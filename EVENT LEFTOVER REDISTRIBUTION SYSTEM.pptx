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22"/>
  </p:notesMasterIdLst>
  <p:sldIdLst>
    <p:sldId id="278" r:id="rId2"/>
    <p:sldId id="257" r:id="rId3"/>
    <p:sldId id="258" r:id="rId4"/>
    <p:sldId id="260" r:id="rId5"/>
    <p:sldId id="261" r:id="rId6"/>
    <p:sldId id="262" r:id="rId7"/>
    <p:sldId id="267" r:id="rId8"/>
    <p:sldId id="263" r:id="rId9"/>
    <p:sldId id="264" r:id="rId10"/>
    <p:sldId id="265" r:id="rId11"/>
    <p:sldId id="266" r:id="rId12"/>
    <p:sldId id="268" r:id="rId13"/>
    <p:sldId id="269" r:id="rId14"/>
    <p:sldId id="279" r:id="rId15"/>
    <p:sldId id="280" r:id="rId16"/>
    <p:sldId id="281" r:id="rId17"/>
    <p:sldId id="273" r:id="rId18"/>
    <p:sldId id="274" r:id="rId19"/>
    <p:sldId id="275" r:id="rId20"/>
    <p:sldId id="277"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01" autoAdjust="0"/>
  </p:normalViewPr>
  <p:slideViewPr>
    <p:cSldViewPr snapToGrid="0">
      <p:cViewPr varScale="1">
        <p:scale>
          <a:sx n="73" d="100"/>
          <a:sy n="73" d="100"/>
        </p:scale>
        <p:origin x="36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197BAB-7750-4629-B8DB-4861FBCBBDCF}" type="datetimeFigureOut">
              <a:rPr lang="en-IN" smtClean="0"/>
              <a:t>20-04-2025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F8BEAE-F121-4F21-AF43-7F418A988536}" type="slidenum">
              <a:rPr lang="en-IN" smtClean="0"/>
              <a:t>‹#›</a:t>
            </a:fld>
            <a:endParaRPr lang="en-IN"/>
          </a:p>
        </p:txBody>
      </p:sp>
    </p:spTree>
    <p:extLst>
      <p:ext uri="{BB962C8B-B14F-4D97-AF65-F5344CB8AC3E}">
        <p14:creationId xmlns:p14="http://schemas.microsoft.com/office/powerpoint/2010/main" val="42546400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Event Leftover Redistribution System.</a:t>
            </a:r>
          </a:p>
          <a:p>
            <a:endParaRPr lang="en-IN" dirty="0"/>
          </a:p>
          <a:p>
            <a:r>
              <a:rPr lang="en-IN"/>
              <a:t>Group-4.</a:t>
            </a:r>
            <a:endParaRPr lang="en-IN" dirty="0"/>
          </a:p>
        </p:txBody>
      </p:sp>
      <p:sp>
        <p:nvSpPr>
          <p:cNvPr id="4" name="Slide Number Placeholder 3"/>
          <p:cNvSpPr>
            <a:spLocks noGrp="1"/>
          </p:cNvSpPr>
          <p:nvPr>
            <p:ph type="sldNum" sz="quarter" idx="5"/>
          </p:nvPr>
        </p:nvSpPr>
        <p:spPr/>
        <p:txBody>
          <a:bodyPr/>
          <a:lstStyle/>
          <a:p>
            <a:fld id="{56F8BEAE-F121-4F21-AF43-7F418A988536}" type="slidenum">
              <a:rPr lang="en-IN" smtClean="0"/>
              <a:t>1</a:t>
            </a:fld>
            <a:endParaRPr lang="en-IN"/>
          </a:p>
        </p:txBody>
      </p:sp>
    </p:spTree>
    <p:extLst>
      <p:ext uri="{BB962C8B-B14F-4D97-AF65-F5344CB8AC3E}">
        <p14:creationId xmlns:p14="http://schemas.microsoft.com/office/powerpoint/2010/main" val="15181866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social services sector is faced with two critical concerns  event food wastage and community hunger.</a:t>
            </a:r>
          </a:p>
          <a:p>
            <a:r>
              <a:rPr lang="en-US" sz="1200" b="0" i="0" kern="1200" dirty="0">
                <a:solidFill>
                  <a:schemeClr val="tx1"/>
                </a:solidFill>
                <a:effectLst/>
                <a:latin typeface="+mn-lt"/>
                <a:ea typeface="+mn-ea"/>
                <a:cs typeface="+mn-cs"/>
              </a:rPr>
              <a:t>Our initiative addresses this deficiency by sponsoring a community-based NGO focused on food redistribution.</a:t>
            </a:r>
          </a:p>
          <a:p>
            <a:r>
              <a:rPr lang="en-US" sz="1200" b="0" i="0" kern="1200" dirty="0">
                <a:solidFill>
                  <a:schemeClr val="tx1"/>
                </a:solidFill>
                <a:effectLst/>
                <a:latin typeface="+mn-lt"/>
                <a:ea typeface="+mn-ea"/>
                <a:cs typeface="+mn-cs"/>
              </a:rPr>
              <a:t>AI algorithms and real-time notifications are changing the manner in which excess food is matched and distributed efficiently, thanks to the sector.</a:t>
            </a:r>
          </a:p>
          <a:p>
            <a:r>
              <a:rPr lang="en-US" sz="1200" b="0" i="0" kern="1200" dirty="0">
                <a:solidFill>
                  <a:schemeClr val="tx1"/>
                </a:solidFill>
                <a:effectLst/>
                <a:latin typeface="+mn-lt"/>
                <a:ea typeface="+mn-ea"/>
                <a:cs typeface="+mn-cs"/>
              </a:rPr>
              <a:t>Our aim is simple: reduce food wastage, accelerate donations, and provide food to the people who need it most.</a:t>
            </a:r>
            <a:endParaRPr lang="en-IN" dirty="0"/>
          </a:p>
        </p:txBody>
      </p:sp>
      <p:sp>
        <p:nvSpPr>
          <p:cNvPr id="4" name="Slide Number Placeholder 3"/>
          <p:cNvSpPr>
            <a:spLocks noGrp="1"/>
          </p:cNvSpPr>
          <p:nvPr>
            <p:ph type="sldNum" sz="quarter" idx="10"/>
          </p:nvPr>
        </p:nvSpPr>
        <p:spPr/>
        <p:txBody>
          <a:bodyPr/>
          <a:lstStyle/>
          <a:p>
            <a:fld id="{538A4F32-1A15-4026-A9C6-8AA9C140B70F}" type="slidenum">
              <a:rPr lang="en-IN" smtClean="0"/>
              <a:t>2</a:t>
            </a:fld>
            <a:endParaRPr lang="en-IN"/>
          </a:p>
        </p:txBody>
      </p:sp>
    </p:spTree>
    <p:extLst>
      <p:ext uri="{BB962C8B-B14F-4D97-AF65-F5344CB8AC3E}">
        <p14:creationId xmlns:p14="http://schemas.microsoft.com/office/powerpoint/2010/main" val="15821776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Our organization is a not-for-profit sustainable food redistribution entity that seeks to reduce event-related food waste and alleviate hunger in the local community.</a:t>
            </a:r>
          </a:p>
          <a:p>
            <a:r>
              <a:rPr lang="en-US" sz="1200" b="0" i="0" kern="1200" dirty="0">
                <a:solidFill>
                  <a:schemeClr val="tx1"/>
                </a:solidFill>
                <a:effectLst/>
                <a:latin typeface="+mn-lt"/>
                <a:ea typeface="+mn-ea"/>
                <a:cs typeface="+mn-cs"/>
              </a:rPr>
              <a:t>Technology is the pillar of our strategy to bring event planners and food charities together. With real-time matching and coordination technology, we make donation easier, allowing excess food to flow directly to where it is needed.</a:t>
            </a:r>
          </a:p>
          <a:p>
            <a:r>
              <a:rPr lang="en-US" sz="1200" b="0" i="0" kern="1200" dirty="0">
                <a:solidFill>
                  <a:schemeClr val="tx1"/>
                </a:solidFill>
                <a:effectLst/>
                <a:latin typeface="+mn-lt"/>
                <a:ea typeface="+mn-ea"/>
                <a:cs typeface="+mn-cs"/>
              </a:rPr>
              <a:t>Our leadership vision is about long-term effect positioning ourselves as a critical facilitator in food recovery by leveraging the combined strength of AI, cloud technology, and smart logistics.</a:t>
            </a:r>
          </a:p>
          <a:p>
            <a:r>
              <a:rPr lang="en-US" sz="1200" b="0" i="0" kern="1200" dirty="0">
                <a:solidFill>
                  <a:schemeClr val="tx1"/>
                </a:solidFill>
                <a:effectLst/>
                <a:latin typeface="+mn-lt"/>
                <a:ea typeface="+mn-ea"/>
                <a:cs typeface="+mn-cs"/>
              </a:rPr>
              <a:t>By our passion for innovation, we're transforming the traditional system of donations. We're building a smarter, speedier, and more scalable system of redistribution to ensure that not a single piece of edible food from events goes to waste.</a:t>
            </a:r>
            <a:endParaRPr lang="en-IN" dirty="0"/>
          </a:p>
        </p:txBody>
      </p:sp>
      <p:sp>
        <p:nvSpPr>
          <p:cNvPr id="4" name="Slide Number Placeholder 3"/>
          <p:cNvSpPr>
            <a:spLocks noGrp="1"/>
          </p:cNvSpPr>
          <p:nvPr>
            <p:ph type="sldNum" sz="quarter" idx="10"/>
          </p:nvPr>
        </p:nvSpPr>
        <p:spPr/>
        <p:txBody>
          <a:bodyPr/>
          <a:lstStyle/>
          <a:p>
            <a:fld id="{538A4F32-1A15-4026-A9C6-8AA9C140B70F}" type="slidenum">
              <a:rPr lang="en-IN" smtClean="0"/>
              <a:t>3</a:t>
            </a:fld>
            <a:endParaRPr lang="en-IN"/>
          </a:p>
        </p:txBody>
      </p:sp>
    </p:spTree>
    <p:extLst>
      <p:ext uri="{BB962C8B-B14F-4D97-AF65-F5344CB8AC3E}">
        <p14:creationId xmlns:p14="http://schemas.microsoft.com/office/powerpoint/2010/main" val="24660480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Our business positions itself as a technology driven food recovery pioneer through innovation that will set a new standard of efficiency and reach.</a:t>
            </a:r>
          </a:p>
          <a:p>
            <a:r>
              <a:rPr lang="en-US" sz="1200" b="0" i="0" kern="1200" dirty="0">
                <a:solidFill>
                  <a:schemeClr val="tx1"/>
                </a:solidFill>
                <a:effectLst/>
                <a:latin typeface="+mn-lt"/>
                <a:ea typeface="+mn-ea"/>
                <a:cs typeface="+mn-cs"/>
              </a:rPr>
              <a:t>We prioritize strong user experience significantly, enabling how event planners can easily report surplus and how nonprofits will be able to receive real-time alerts tailored to their specifications.</a:t>
            </a:r>
          </a:p>
          <a:p>
            <a:r>
              <a:rPr lang="en-US" sz="1200" b="0" i="0" kern="1200" dirty="0">
                <a:solidFill>
                  <a:schemeClr val="tx1"/>
                </a:solidFill>
                <a:effectLst/>
                <a:latin typeface="+mn-lt"/>
                <a:ea typeface="+mn-ea"/>
                <a:cs typeface="+mn-cs"/>
              </a:rPr>
              <a:t>By embracing AI, cloud technologies, and mobiles in a positive way, we gain speed, accuracy, and reach  ensuring that each contribution counts and reaches the intended destination, at the right time.</a:t>
            </a:r>
            <a:endParaRPr lang="en-IN" dirty="0"/>
          </a:p>
        </p:txBody>
      </p:sp>
      <p:sp>
        <p:nvSpPr>
          <p:cNvPr id="4" name="Slide Number Placeholder 3"/>
          <p:cNvSpPr>
            <a:spLocks noGrp="1"/>
          </p:cNvSpPr>
          <p:nvPr>
            <p:ph type="sldNum" sz="quarter" idx="10"/>
          </p:nvPr>
        </p:nvSpPr>
        <p:spPr/>
        <p:txBody>
          <a:bodyPr/>
          <a:lstStyle/>
          <a:p>
            <a:fld id="{538A4F32-1A15-4026-A9C6-8AA9C140B70F}" type="slidenum">
              <a:rPr lang="en-IN" smtClean="0"/>
              <a:t>4</a:t>
            </a:fld>
            <a:endParaRPr lang="en-IN"/>
          </a:p>
        </p:txBody>
      </p:sp>
    </p:spTree>
    <p:extLst>
      <p:ext uri="{BB962C8B-B14F-4D97-AF65-F5344CB8AC3E}">
        <p14:creationId xmlns:p14="http://schemas.microsoft.com/office/powerpoint/2010/main" val="21284884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Today, surplus food redistribution is time-consuming and manual, relying heavily on phone calls or spreadsheets.</a:t>
            </a:r>
          </a:p>
          <a:p>
            <a:r>
              <a:rPr lang="en-US" sz="1200" b="0" i="0" kern="1200" dirty="0">
                <a:solidFill>
                  <a:schemeClr val="tx1"/>
                </a:solidFill>
                <a:effectLst/>
                <a:latin typeface="+mn-lt"/>
                <a:ea typeface="+mn-ea"/>
                <a:cs typeface="+mn-cs"/>
              </a:rPr>
              <a:t>Event organizers have no organized system by which to alert multiple charities simultaneously, resulting in inefficient coordination.</a:t>
            </a:r>
          </a:p>
          <a:p>
            <a:r>
              <a:rPr lang="en-US" sz="1200" b="0" i="0" kern="1200" dirty="0">
                <a:solidFill>
                  <a:schemeClr val="tx1"/>
                </a:solidFill>
                <a:effectLst/>
                <a:latin typeface="+mn-lt"/>
                <a:ea typeface="+mn-ea"/>
                <a:cs typeface="+mn-cs"/>
              </a:rPr>
              <a:t>Charities lose donations since they arrive late, while organizers sacrifice their sleep in order to make pickups on schedule.</a:t>
            </a:r>
          </a:p>
          <a:p>
            <a:r>
              <a:rPr lang="en-US" sz="1200" b="0" i="0" kern="1200" dirty="0">
                <a:solidFill>
                  <a:schemeClr val="tx1"/>
                </a:solidFill>
                <a:effectLst/>
                <a:latin typeface="+mn-lt"/>
                <a:ea typeface="+mn-ea"/>
                <a:cs typeface="+mn-cs"/>
              </a:rPr>
              <a:t>With no platform to track donations or relay automated messages, nutritious food necessarily winds up getting wasted highlighting the urgent need for a superior solution.</a:t>
            </a:r>
          </a:p>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38A4F32-1A15-4026-A9C6-8AA9C140B70F}" type="slidenum">
              <a:rPr lang="en-IN" smtClean="0"/>
              <a:t>5</a:t>
            </a:fld>
            <a:endParaRPr lang="en-IN"/>
          </a:p>
        </p:txBody>
      </p:sp>
    </p:spTree>
    <p:extLst>
      <p:ext uri="{BB962C8B-B14F-4D97-AF65-F5344CB8AC3E}">
        <p14:creationId xmlns:p14="http://schemas.microsoft.com/office/powerpoint/2010/main" val="14126529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Our system today is beset with serious issues in managing surplus donations.</a:t>
            </a:r>
          </a:p>
          <a:p>
            <a:r>
              <a:rPr lang="en-US" sz="1200" b="0" i="0" kern="1200" dirty="0">
                <a:solidFill>
                  <a:schemeClr val="tx1"/>
                </a:solidFill>
                <a:effectLst/>
                <a:latin typeface="+mn-lt"/>
                <a:ea typeface="+mn-ea"/>
                <a:cs typeface="+mn-cs"/>
              </a:rPr>
              <a:t>There isn't a central platform, so it is hard to post, look at, or monitor available excess efficiently.</a:t>
            </a:r>
          </a:p>
          <a:p>
            <a:r>
              <a:rPr lang="en-US" sz="1200" b="0" i="0" kern="1200" dirty="0">
                <a:solidFill>
                  <a:schemeClr val="tx1"/>
                </a:solidFill>
                <a:effectLst/>
                <a:latin typeface="+mn-lt"/>
                <a:ea typeface="+mn-ea"/>
                <a:cs typeface="+mn-cs"/>
              </a:rPr>
              <a:t>Manual coordination produces time loss, missed opportunities, and most times, food is wasted.</a:t>
            </a:r>
          </a:p>
          <a:p>
            <a:r>
              <a:rPr lang="en-US" sz="1200" b="0" i="0" kern="1200" dirty="0">
                <a:solidFill>
                  <a:schemeClr val="tx1"/>
                </a:solidFill>
                <a:effectLst/>
                <a:latin typeface="+mn-lt"/>
                <a:ea typeface="+mn-ea"/>
                <a:cs typeface="+mn-cs"/>
              </a:rPr>
              <a:t>Without real-time alerts, charities are not notified in time, and pickup windows are often missed.</a:t>
            </a:r>
          </a:p>
          <a:p>
            <a:r>
              <a:rPr lang="en-US" sz="1200" b="0" i="0" kern="1200" dirty="0">
                <a:solidFill>
                  <a:schemeClr val="tx1"/>
                </a:solidFill>
                <a:effectLst/>
                <a:latin typeface="+mn-lt"/>
                <a:ea typeface="+mn-ea"/>
                <a:cs typeface="+mn-cs"/>
              </a:rPr>
              <a:t>Donor recipient communication is in disarray and unreported, leaving gaps in terms of accountability.</a:t>
            </a:r>
          </a:p>
          <a:p>
            <a:r>
              <a:rPr lang="en-US" sz="1200" b="0" i="0" kern="1200" dirty="0">
                <a:solidFill>
                  <a:schemeClr val="tx1"/>
                </a:solidFill>
                <a:effectLst/>
                <a:latin typeface="+mn-lt"/>
                <a:ea typeface="+mn-ea"/>
                <a:cs typeface="+mn-cs"/>
              </a:rPr>
              <a:t>Lastly, there is no history of donation or inventory transparency, and therefore improvement and data analysis are practically impossible.</a:t>
            </a:r>
            <a:endParaRPr lang="en-IN" dirty="0"/>
          </a:p>
        </p:txBody>
      </p:sp>
      <p:sp>
        <p:nvSpPr>
          <p:cNvPr id="4" name="Slide Number Placeholder 3"/>
          <p:cNvSpPr>
            <a:spLocks noGrp="1"/>
          </p:cNvSpPr>
          <p:nvPr>
            <p:ph type="sldNum" sz="quarter" idx="10"/>
          </p:nvPr>
        </p:nvSpPr>
        <p:spPr/>
        <p:txBody>
          <a:bodyPr/>
          <a:lstStyle/>
          <a:p>
            <a:fld id="{538A4F32-1A15-4026-A9C6-8AA9C140B70F}" type="slidenum">
              <a:rPr lang="en-IN" smtClean="0"/>
              <a:t>6</a:t>
            </a:fld>
            <a:endParaRPr lang="en-IN"/>
          </a:p>
        </p:txBody>
      </p:sp>
    </p:spTree>
    <p:extLst>
      <p:ext uri="{BB962C8B-B14F-4D97-AF65-F5344CB8AC3E}">
        <p14:creationId xmlns:p14="http://schemas.microsoft.com/office/powerpoint/2010/main" val="13836831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Our platform has three key value additions that address the problems we've outlined directly.</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First, the Smart Matching System automatically matches surplus with the most appropriate recipient in terms of need and proximity. This reduces delays and maximizes the use of donated items.</a:t>
            </a:r>
          </a:p>
          <a:p>
            <a:r>
              <a:rPr lang="en-US" sz="1200" b="0" i="0" kern="1200" dirty="0">
                <a:solidFill>
                  <a:schemeClr val="tx1"/>
                </a:solidFill>
                <a:effectLst/>
                <a:latin typeface="+mn-lt"/>
                <a:ea typeface="+mn-ea"/>
                <a:cs typeface="+mn-cs"/>
              </a:rPr>
              <a:t>Second, we utilize real-time notifications SMS, email, and app push notification-based alerts that allow for prompt response and prevent spoilage by enabling timely pickups.</a:t>
            </a:r>
          </a:p>
          <a:p>
            <a:r>
              <a:rPr lang="en-US" sz="1200" b="0" i="0" kern="1200" dirty="0">
                <a:solidFill>
                  <a:schemeClr val="tx1"/>
                </a:solidFill>
                <a:effectLst/>
                <a:latin typeface="+mn-lt"/>
                <a:ea typeface="+mn-ea"/>
                <a:cs typeface="+mn-cs"/>
              </a:rPr>
              <a:t>Last but not least, our Inventory Tracking and Reporting feature keeps precise records of donations and inventory. This enhances transparency and helps charities plan more effectively for future redistribution.</a:t>
            </a:r>
            <a:endParaRPr lang="en-IN" dirty="0"/>
          </a:p>
        </p:txBody>
      </p:sp>
      <p:sp>
        <p:nvSpPr>
          <p:cNvPr id="4" name="Slide Number Placeholder 3"/>
          <p:cNvSpPr>
            <a:spLocks noGrp="1"/>
          </p:cNvSpPr>
          <p:nvPr>
            <p:ph type="sldNum" sz="quarter" idx="10"/>
          </p:nvPr>
        </p:nvSpPr>
        <p:spPr/>
        <p:txBody>
          <a:bodyPr/>
          <a:lstStyle/>
          <a:p>
            <a:fld id="{538A4F32-1A15-4026-A9C6-8AA9C140B70F}" type="slidenum">
              <a:rPr lang="en-IN" smtClean="0"/>
              <a:t>7</a:t>
            </a:fld>
            <a:endParaRPr lang="en-IN"/>
          </a:p>
        </p:txBody>
      </p:sp>
    </p:spTree>
    <p:extLst>
      <p:ext uri="{BB962C8B-B14F-4D97-AF65-F5344CB8AC3E}">
        <p14:creationId xmlns:p14="http://schemas.microsoft.com/office/powerpoint/2010/main" val="25528027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primary goal of our system is efficient redistribution—to cut down food wastage by making timely pickups possible and minimizing manual coordination.</a:t>
            </a:r>
          </a:p>
          <a:p>
            <a:r>
              <a:rPr lang="en-US" sz="1200" b="0" i="0" kern="1200" dirty="0">
                <a:solidFill>
                  <a:schemeClr val="tx1"/>
                </a:solidFill>
                <a:effectLst/>
                <a:latin typeface="+mn-lt"/>
                <a:ea typeface="+mn-ea"/>
                <a:cs typeface="+mn-cs"/>
              </a:rPr>
              <a:t>Our goal is to create value for communities by making sure surplus food finds its way to shelters and charities in a consistent manner, while at the same time promoting transparency and accountability in donations.</a:t>
            </a:r>
          </a:p>
          <a:p>
            <a:r>
              <a:rPr lang="en-US" sz="1200" b="0" i="0" kern="1200" dirty="0">
                <a:solidFill>
                  <a:schemeClr val="tx1"/>
                </a:solidFill>
                <a:effectLst/>
                <a:latin typeface="+mn-lt"/>
                <a:ea typeface="+mn-ea"/>
                <a:cs typeface="+mn-cs"/>
              </a:rPr>
              <a:t>On the operational side, our system will streamline logistics by aggregating surplus tracking and streamlining donor-recipient communications.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finally, by leveraging data, we can build real-time insights that facilitate better decision-making and allow NGOs to plan well, match better, and forecast needs.</a:t>
            </a:r>
            <a:endParaRPr lang="en-IN" dirty="0"/>
          </a:p>
        </p:txBody>
      </p:sp>
      <p:sp>
        <p:nvSpPr>
          <p:cNvPr id="4" name="Slide Number Placeholder 3"/>
          <p:cNvSpPr>
            <a:spLocks noGrp="1"/>
          </p:cNvSpPr>
          <p:nvPr>
            <p:ph type="sldNum" sz="quarter" idx="10"/>
          </p:nvPr>
        </p:nvSpPr>
        <p:spPr/>
        <p:txBody>
          <a:bodyPr/>
          <a:lstStyle/>
          <a:p>
            <a:fld id="{538A4F32-1A15-4026-A9C6-8AA9C140B70F}" type="slidenum">
              <a:rPr lang="en-IN" smtClean="0"/>
              <a:t>8</a:t>
            </a:fld>
            <a:endParaRPr lang="en-IN"/>
          </a:p>
        </p:txBody>
      </p:sp>
    </p:spTree>
    <p:extLst>
      <p:ext uri="{BB962C8B-B14F-4D97-AF65-F5344CB8AC3E}">
        <p14:creationId xmlns:p14="http://schemas.microsoft.com/office/powerpoint/2010/main" val="3948259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To </a:t>
            </a:r>
            <a:r>
              <a:rPr lang="en-US" sz="1200" b="0" i="0" kern="1200" dirty="0" err="1">
                <a:solidFill>
                  <a:schemeClr val="tx1"/>
                </a:solidFill>
                <a:effectLst/>
                <a:latin typeface="+mn-lt"/>
                <a:ea typeface="+mn-ea"/>
                <a:cs typeface="+mn-cs"/>
              </a:rPr>
              <a:t>to</a:t>
            </a:r>
            <a:r>
              <a:rPr lang="en-US" sz="1200" b="0" i="0" kern="1200" dirty="0">
                <a:solidFill>
                  <a:schemeClr val="tx1"/>
                </a:solidFill>
                <a:effectLst/>
                <a:latin typeface="+mn-lt"/>
                <a:ea typeface="+mn-ea"/>
                <a:cs typeface="+mn-cs"/>
              </a:rPr>
              <a:t> meet the needs that we identified, we explored three system options.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first is an Event-Based Communication Platform which concentrates the management of surplus donations. It informs NGOs by need and location, and it tracks confirmations and reporting in real time.</a:t>
            </a:r>
          </a:p>
          <a:p>
            <a:r>
              <a:rPr lang="en-US" sz="1200" b="0" i="0" kern="1200" dirty="0">
                <a:solidFill>
                  <a:schemeClr val="tx1"/>
                </a:solidFill>
                <a:effectLst/>
                <a:latin typeface="+mn-lt"/>
                <a:ea typeface="+mn-ea"/>
                <a:cs typeface="+mn-cs"/>
              </a:rPr>
              <a:t>The second is an AI-Powered Matching Engine that would intelligently match donations with recipients based on learning from history, urgency, and proximity optimal allocation of resources.</a:t>
            </a:r>
          </a:p>
          <a:p>
            <a:r>
              <a:rPr lang="en-US" sz="1200" b="0" i="0" kern="1200" dirty="0">
                <a:solidFill>
                  <a:schemeClr val="tx1"/>
                </a:solidFill>
                <a:effectLst/>
                <a:latin typeface="+mn-lt"/>
                <a:ea typeface="+mn-ea"/>
                <a:cs typeface="+mn-cs"/>
              </a:rPr>
              <a:t>And the third is a Lightweight Mobile App to facilitate easy and convenient extra entry for even sporadic donors. With image uploads and pick-up slots, it lowers the participation barrier.</a:t>
            </a:r>
            <a:endParaRPr lang="en-IN" dirty="0"/>
          </a:p>
        </p:txBody>
      </p:sp>
      <p:sp>
        <p:nvSpPr>
          <p:cNvPr id="4" name="Slide Number Placeholder 3"/>
          <p:cNvSpPr>
            <a:spLocks noGrp="1"/>
          </p:cNvSpPr>
          <p:nvPr>
            <p:ph type="sldNum" sz="quarter" idx="10"/>
          </p:nvPr>
        </p:nvSpPr>
        <p:spPr/>
        <p:txBody>
          <a:bodyPr/>
          <a:lstStyle/>
          <a:p>
            <a:fld id="{538A4F32-1A15-4026-A9C6-8AA9C140B70F}" type="slidenum">
              <a:rPr lang="en-IN" smtClean="0"/>
              <a:t>9</a:t>
            </a:fld>
            <a:endParaRPr lang="en-IN"/>
          </a:p>
        </p:txBody>
      </p:sp>
    </p:spTree>
    <p:extLst>
      <p:ext uri="{BB962C8B-B14F-4D97-AF65-F5344CB8AC3E}">
        <p14:creationId xmlns:p14="http://schemas.microsoft.com/office/powerpoint/2010/main" val="42907565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We conducted a thorough feasibility study to ensure that our proposed system is viable, cost-effective, and adaptable for users.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Technically, we explored scalable cloud platforms like Firebase and AWS with consideration for compatibility with apps like Google Maps and Twilio. We emphasized data security, integration ease, and high reliability.</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Economically, we computed development, upkeep, and projected savings by waste elimination and improved logistics. We were concerned with long-term return on investment and benefit to the community.</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Organizationally, we considered how smoothly teams and NGOs can transition to leveraging the system with minimal disruption. Our aim is to promote a tech-enabled culture for sustainability and community benefit.</a:t>
            </a:r>
            <a:endParaRPr lang="en-IN" dirty="0"/>
          </a:p>
        </p:txBody>
      </p:sp>
      <p:sp>
        <p:nvSpPr>
          <p:cNvPr id="4" name="Slide Number Placeholder 3"/>
          <p:cNvSpPr>
            <a:spLocks noGrp="1"/>
          </p:cNvSpPr>
          <p:nvPr>
            <p:ph type="sldNum" sz="quarter" idx="10"/>
          </p:nvPr>
        </p:nvSpPr>
        <p:spPr/>
        <p:txBody>
          <a:bodyPr/>
          <a:lstStyle/>
          <a:p>
            <a:fld id="{538A4F32-1A15-4026-A9C6-8AA9C140B70F}" type="slidenum">
              <a:rPr lang="en-IN" smtClean="0"/>
              <a:t>10</a:t>
            </a:fld>
            <a:endParaRPr lang="en-IN"/>
          </a:p>
        </p:txBody>
      </p:sp>
    </p:spTree>
    <p:extLst>
      <p:ext uri="{BB962C8B-B14F-4D97-AF65-F5344CB8AC3E}">
        <p14:creationId xmlns:p14="http://schemas.microsoft.com/office/powerpoint/2010/main" val="21292640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Our project is focused on developing a smart donation-matching platform to efficiently redistribute event leftovers and reduce food wastage.</a:t>
            </a:r>
          </a:p>
          <a:p>
            <a:r>
              <a:rPr lang="en-US" sz="1200" b="0" i="0" kern="1200" dirty="0">
                <a:solidFill>
                  <a:schemeClr val="tx1"/>
                </a:solidFill>
                <a:effectLst/>
                <a:latin typeface="+mn-lt"/>
                <a:ea typeface="+mn-ea"/>
                <a:cs typeface="+mn-cs"/>
              </a:rPr>
              <a:t>To achieve this, we assigned specific tasks—ranging from project lead to developers and NGO coordinators—and maintained regular check-ins to monitor progress.</a:t>
            </a:r>
          </a:p>
          <a:p>
            <a:r>
              <a:rPr lang="en-US" sz="1200" b="0" i="0" kern="1200" dirty="0">
                <a:solidFill>
                  <a:schemeClr val="tx1"/>
                </a:solidFill>
                <a:effectLst/>
                <a:latin typeface="+mn-lt"/>
                <a:ea typeface="+mn-ea"/>
                <a:cs typeface="+mn-cs"/>
              </a:rPr>
              <a:t>The scope of the project is to automate posting of food, notifications, and inventory management. Our goal is to deliver measurable improvements in speed as well as efficiency.</a:t>
            </a:r>
          </a:p>
          <a:p>
            <a:r>
              <a:rPr lang="en-US" sz="1200" b="0" i="0" kern="1200" dirty="0">
                <a:solidFill>
                  <a:schemeClr val="tx1"/>
                </a:solidFill>
                <a:effectLst/>
                <a:latin typeface="+mn-lt"/>
                <a:ea typeface="+mn-ea"/>
                <a:cs typeface="+mn-cs"/>
              </a:rPr>
              <a:t>Planning was made easier through a Work Breakdown Structure, which allowed us to track UI development, backend logic, testing phases, and deadlines.</a:t>
            </a:r>
          </a:p>
          <a:p>
            <a:r>
              <a:rPr lang="en-US" sz="1200" b="0" i="0" kern="1200" dirty="0">
                <a:solidFill>
                  <a:schemeClr val="tx1"/>
                </a:solidFill>
                <a:effectLst/>
                <a:latin typeface="+mn-lt"/>
                <a:ea typeface="+mn-ea"/>
                <a:cs typeface="+mn-cs"/>
              </a:rPr>
              <a:t>Communication was made easier through Slack, WhatsApp, and email, complemented by sprint reviews and NGO feedback loops to ensure continuous alignment and clarity.</a:t>
            </a:r>
            <a:endParaRPr lang="en-IN" dirty="0"/>
          </a:p>
        </p:txBody>
      </p:sp>
      <p:sp>
        <p:nvSpPr>
          <p:cNvPr id="4" name="Slide Number Placeholder 3"/>
          <p:cNvSpPr>
            <a:spLocks noGrp="1"/>
          </p:cNvSpPr>
          <p:nvPr>
            <p:ph type="sldNum" sz="quarter" idx="10"/>
          </p:nvPr>
        </p:nvSpPr>
        <p:spPr/>
        <p:txBody>
          <a:bodyPr/>
          <a:lstStyle/>
          <a:p>
            <a:fld id="{538A4F32-1A15-4026-A9C6-8AA9C140B70F}" type="slidenum">
              <a:rPr lang="en-IN" smtClean="0"/>
              <a:t>11</a:t>
            </a:fld>
            <a:endParaRPr lang="en-IN"/>
          </a:p>
        </p:txBody>
      </p:sp>
    </p:spTree>
    <p:extLst>
      <p:ext uri="{BB962C8B-B14F-4D97-AF65-F5344CB8AC3E}">
        <p14:creationId xmlns:p14="http://schemas.microsoft.com/office/powerpoint/2010/main" val="26631382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During the execution stage, we monitored progress closely, solved any issues, and ensured delivery quality through continuous validation and testing.</a:t>
            </a:r>
          </a:p>
          <a:p>
            <a:r>
              <a:rPr lang="en-US" sz="1200" b="0" i="0" kern="1200" dirty="0">
                <a:solidFill>
                  <a:schemeClr val="tx1"/>
                </a:solidFill>
                <a:effectLst/>
                <a:latin typeface="+mn-lt"/>
                <a:ea typeface="+mn-ea"/>
                <a:cs typeface="+mn-cs"/>
              </a:rPr>
              <a:t>We provided transparency through timely reporting and comprehensive documentation of all milestones and outcomes.</a:t>
            </a:r>
          </a:p>
          <a:p>
            <a:r>
              <a:rPr lang="en-US" sz="1200" b="0" i="0" kern="1200" dirty="0">
                <a:solidFill>
                  <a:schemeClr val="tx1"/>
                </a:solidFill>
                <a:effectLst/>
                <a:latin typeface="+mn-lt"/>
                <a:ea typeface="+mn-ea"/>
                <a:cs typeface="+mn-cs"/>
              </a:rPr>
              <a:t>Responsibilities for development, testing, and presentation were clearly divided between team members with due dates tracked using WBS and milestone </a:t>
            </a:r>
            <a:r>
              <a:rPr lang="en-US" sz="1200" b="0" i="0" kern="1200" dirty="0" err="1">
                <a:solidFill>
                  <a:schemeClr val="tx1"/>
                </a:solidFill>
                <a:effectLst/>
                <a:latin typeface="+mn-lt"/>
                <a:ea typeface="+mn-ea"/>
                <a:cs typeface="+mn-cs"/>
              </a:rPr>
              <a:t>charts.Communication</a:t>
            </a:r>
            <a:r>
              <a:rPr lang="en-US" sz="1200" b="0" i="0" kern="1200" dirty="0">
                <a:solidFill>
                  <a:schemeClr val="tx1"/>
                </a:solidFill>
                <a:effectLst/>
                <a:latin typeface="+mn-lt"/>
                <a:ea typeface="+mn-ea"/>
                <a:cs typeface="+mn-cs"/>
              </a:rPr>
              <a:t> was carried out via email and Microsoft Teams with defined response times and formalized meeting protocols.</a:t>
            </a:r>
          </a:p>
          <a:p>
            <a:r>
              <a:rPr lang="en-US" sz="1200" b="0" i="0" kern="1200" dirty="0">
                <a:solidFill>
                  <a:schemeClr val="tx1"/>
                </a:solidFill>
                <a:effectLst/>
                <a:latin typeface="+mn-lt"/>
                <a:ea typeface="+mn-ea"/>
                <a:cs typeface="+mn-cs"/>
              </a:rPr>
              <a:t>The entire project was about creating an AI-based automated donation redistribution system with the help of cloud tools, having effective tracking and matching in real time.</a:t>
            </a:r>
            <a:endParaRPr lang="en-IN" dirty="0"/>
          </a:p>
        </p:txBody>
      </p:sp>
      <p:sp>
        <p:nvSpPr>
          <p:cNvPr id="4" name="Slide Number Placeholder 3"/>
          <p:cNvSpPr>
            <a:spLocks noGrp="1"/>
          </p:cNvSpPr>
          <p:nvPr>
            <p:ph type="sldNum" sz="quarter" idx="10"/>
          </p:nvPr>
        </p:nvSpPr>
        <p:spPr/>
        <p:txBody>
          <a:bodyPr/>
          <a:lstStyle/>
          <a:p>
            <a:fld id="{538A4F32-1A15-4026-A9C6-8AA9C140B70F}" type="slidenum">
              <a:rPr lang="en-IN" smtClean="0"/>
              <a:t>12</a:t>
            </a:fld>
            <a:endParaRPr lang="en-IN"/>
          </a:p>
        </p:txBody>
      </p:sp>
    </p:spTree>
    <p:extLst>
      <p:ext uri="{BB962C8B-B14F-4D97-AF65-F5344CB8AC3E}">
        <p14:creationId xmlns:p14="http://schemas.microsoft.com/office/powerpoint/2010/main" val="9914924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 creating system requirements, we first spoke with event organizers and charity volunteers to gauge prevalent issues of surplus coordination.</a:t>
            </a:r>
          </a:p>
          <a:p>
            <a:r>
              <a:rPr lang="en-US" sz="1200" b="0" i="0" kern="1200" dirty="0">
                <a:solidFill>
                  <a:schemeClr val="tx1"/>
                </a:solidFill>
                <a:effectLst/>
                <a:latin typeface="+mn-lt"/>
                <a:ea typeface="+mn-ea"/>
                <a:cs typeface="+mn-cs"/>
              </a:rPr>
              <a:t>We analyzed workflows, donation patterns, and inventory needs, and undertook surveys in order to pick up on preferred notification timing and response.</a:t>
            </a:r>
          </a:p>
          <a:p>
            <a:r>
              <a:rPr lang="en-US" sz="1200" b="0" i="0" kern="1200" dirty="0">
                <a:solidFill>
                  <a:schemeClr val="tx1"/>
                </a:solidFill>
                <a:effectLst/>
                <a:latin typeface="+mn-lt"/>
                <a:ea typeface="+mn-ea"/>
                <a:cs typeface="+mn-cs"/>
              </a:rPr>
              <a:t>Concerning methods of gathering, we brainstormed with stakeholders, conducted scenario modeling, and developed wireframes as modes of workflow visualization. Use cases were created for main processes including posting donations, matching them up with recipients, and verifying pickups being the heart of our system design.</a:t>
            </a:r>
            <a:endParaRPr lang="en-IN" dirty="0"/>
          </a:p>
        </p:txBody>
      </p:sp>
      <p:sp>
        <p:nvSpPr>
          <p:cNvPr id="4" name="Slide Number Placeholder 3"/>
          <p:cNvSpPr>
            <a:spLocks noGrp="1"/>
          </p:cNvSpPr>
          <p:nvPr>
            <p:ph type="sldNum" sz="quarter" idx="10"/>
          </p:nvPr>
        </p:nvSpPr>
        <p:spPr/>
        <p:txBody>
          <a:bodyPr/>
          <a:lstStyle/>
          <a:p>
            <a:fld id="{538A4F32-1A15-4026-A9C6-8AA9C140B70F}" type="slidenum">
              <a:rPr lang="en-IN" smtClean="0"/>
              <a:t>13</a:t>
            </a:fld>
            <a:endParaRPr lang="en-IN"/>
          </a:p>
        </p:txBody>
      </p:sp>
    </p:spTree>
    <p:extLst>
      <p:ext uri="{BB962C8B-B14F-4D97-AF65-F5344CB8AC3E}">
        <p14:creationId xmlns:p14="http://schemas.microsoft.com/office/powerpoint/2010/main" val="27712294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6717E-8FFB-9201-292F-B265AF0612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900BBD-F20C-2F00-0F52-60B8F7586E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251CC1-40D0-48FC-3D96-1B376F6B6754}"/>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This page is for event organizers to record surplus food items for donation right after an event.</a:t>
            </a:r>
          </a:p>
          <a:p>
            <a:r>
              <a:rPr lang="en-US" sz="1200" b="0" i="0" kern="1200" dirty="0">
                <a:solidFill>
                  <a:schemeClr val="tx1"/>
                </a:solidFill>
                <a:effectLst/>
                <a:latin typeface="+mn-lt"/>
                <a:ea typeface="+mn-ea"/>
                <a:cs typeface="+mn-cs"/>
              </a:rPr>
              <a:t>The page is simple and user-friendly, and users can fill in the most critical information like item description, quantity, expiration, and location in seconds.</a:t>
            </a:r>
          </a:p>
          <a:p>
            <a:r>
              <a:rPr lang="en-US" sz="1200" b="0" i="0" kern="1200" dirty="0">
                <a:solidFill>
                  <a:schemeClr val="tx1"/>
                </a:solidFill>
                <a:effectLst/>
                <a:latin typeface="+mn-lt"/>
                <a:ea typeface="+mn-ea"/>
                <a:cs typeface="+mn-cs"/>
              </a:rPr>
              <a:t>We aimed to minimize time and effort for staff while maintaining the integrity of donation information. A minimalist and clean design was selected to facilitate real-time logging with little training or confusion.</a:t>
            </a:r>
          </a:p>
          <a:p>
            <a:endParaRPr lang="en-US"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141058CF-9408-0C7A-7A4E-26F1B403D03E}"/>
              </a:ext>
            </a:extLst>
          </p:cNvPr>
          <p:cNvSpPr>
            <a:spLocks noGrp="1"/>
          </p:cNvSpPr>
          <p:nvPr>
            <p:ph type="sldNum" sz="quarter" idx="10"/>
          </p:nvPr>
        </p:nvSpPr>
        <p:spPr/>
        <p:txBody>
          <a:bodyPr/>
          <a:lstStyle/>
          <a:p>
            <a:fld id="{538A4F32-1A15-4026-A9C6-8AA9C140B70F}" type="slidenum">
              <a:rPr lang="en-IN" smtClean="0"/>
              <a:t>14</a:t>
            </a:fld>
            <a:endParaRPr lang="en-IN"/>
          </a:p>
        </p:txBody>
      </p:sp>
    </p:spTree>
    <p:extLst>
      <p:ext uri="{BB962C8B-B14F-4D97-AF65-F5344CB8AC3E}">
        <p14:creationId xmlns:p14="http://schemas.microsoft.com/office/powerpoint/2010/main" val="26738827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22570-F2EB-E3A4-F264-649F8D7AB8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1F8F36-7447-4A2C-59E0-6CFB82E21D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486430-3583-A122-CDAE-44F3241224EC}"/>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This screen is meant for charity agents to be alerted in real time of in-area donation pickups.</a:t>
            </a:r>
          </a:p>
          <a:p>
            <a:r>
              <a:rPr lang="en-US" sz="1200" b="0" i="0" kern="1200" dirty="0">
                <a:solidFill>
                  <a:schemeClr val="tx1"/>
                </a:solidFill>
                <a:effectLst/>
                <a:latin typeface="+mn-lt"/>
                <a:ea typeface="+mn-ea"/>
                <a:cs typeface="+mn-cs"/>
              </a:rPr>
              <a:t>It displays a good vision of important information such as item description, amount, expiration, and pickup location.</a:t>
            </a:r>
          </a:p>
          <a:p>
            <a:r>
              <a:rPr lang="en-US" sz="1200" b="0" i="0" kern="1200" dirty="0">
                <a:solidFill>
                  <a:schemeClr val="tx1"/>
                </a:solidFill>
                <a:effectLst/>
                <a:latin typeface="+mn-lt"/>
                <a:ea typeface="+mn-ea"/>
                <a:cs typeface="+mn-cs"/>
              </a:rPr>
              <a:t>The user can accept or decline the donation in real time with one tap, reducing coordination time and increasing response time.</a:t>
            </a:r>
          </a:p>
          <a:p>
            <a:r>
              <a:rPr lang="en-US" sz="1200" b="0" i="0" kern="1200" dirty="0">
                <a:solidFill>
                  <a:schemeClr val="tx1"/>
                </a:solidFill>
                <a:effectLst/>
                <a:latin typeface="+mn-lt"/>
                <a:ea typeface="+mn-ea"/>
                <a:cs typeface="+mn-cs"/>
              </a:rPr>
              <a:t>We have also provided optional map integration to make it easier to navigate so that the food will get picked up fresh and still functional.</a:t>
            </a:r>
            <a:endParaRPr lang="en-IN" dirty="0"/>
          </a:p>
        </p:txBody>
      </p:sp>
      <p:sp>
        <p:nvSpPr>
          <p:cNvPr id="4" name="Slide Number Placeholder 3">
            <a:extLst>
              <a:ext uri="{FF2B5EF4-FFF2-40B4-BE49-F238E27FC236}">
                <a16:creationId xmlns:a16="http://schemas.microsoft.com/office/drawing/2014/main" id="{39806767-65ED-DA7A-7862-3B9423D955BD}"/>
              </a:ext>
            </a:extLst>
          </p:cNvPr>
          <p:cNvSpPr>
            <a:spLocks noGrp="1"/>
          </p:cNvSpPr>
          <p:nvPr>
            <p:ph type="sldNum" sz="quarter" idx="10"/>
          </p:nvPr>
        </p:nvSpPr>
        <p:spPr/>
        <p:txBody>
          <a:bodyPr/>
          <a:lstStyle/>
          <a:p>
            <a:fld id="{538A4F32-1A15-4026-A9C6-8AA9C140B70F}" type="slidenum">
              <a:rPr lang="en-IN" smtClean="0"/>
              <a:t>15</a:t>
            </a:fld>
            <a:endParaRPr lang="en-IN"/>
          </a:p>
        </p:txBody>
      </p:sp>
    </p:spTree>
    <p:extLst>
      <p:ext uri="{BB962C8B-B14F-4D97-AF65-F5344CB8AC3E}">
        <p14:creationId xmlns:p14="http://schemas.microsoft.com/office/powerpoint/2010/main" val="14679063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74A23-4A96-003C-86D9-5B678C6D6F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5C81D6-BC19-0475-F8B1-D199EB7C7E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E3E4B1-BB9D-926F-F978-558DE398B8B8}"/>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The Admin Dashboard is the point of central control for the system.</a:t>
            </a:r>
          </a:p>
          <a:p>
            <a:r>
              <a:rPr lang="en-US" sz="1200" b="0" i="0" kern="1200" dirty="0">
                <a:solidFill>
                  <a:schemeClr val="tx1"/>
                </a:solidFill>
                <a:effectLst/>
                <a:latin typeface="+mn-lt"/>
                <a:ea typeface="+mn-ea"/>
                <a:cs typeface="+mn-cs"/>
              </a:rPr>
              <a:t>It provides real-time reports of platform activity  new donations, upcoming pickups, and total transactions.</a:t>
            </a:r>
          </a:p>
          <a:p>
            <a:r>
              <a:rPr lang="en-US" sz="1200" b="0" i="0" kern="1200" dirty="0">
                <a:solidFill>
                  <a:schemeClr val="tx1"/>
                </a:solidFill>
                <a:effectLst/>
                <a:latin typeface="+mn-lt"/>
                <a:ea typeface="+mn-ea"/>
                <a:cs typeface="+mn-cs"/>
              </a:rPr>
              <a:t>Admins can monitor platform health in graphic format, audit donation history, and proactively respond to any issue.</a:t>
            </a:r>
          </a:p>
          <a:p>
            <a:r>
              <a:rPr lang="en-US" sz="1200" b="0" i="0" kern="1200" dirty="0">
                <a:solidFill>
                  <a:schemeClr val="tx1"/>
                </a:solidFill>
                <a:effectLst/>
                <a:latin typeface="+mn-lt"/>
                <a:ea typeface="+mn-ea"/>
                <a:cs typeface="+mn-cs"/>
              </a:rPr>
              <a:t>Such transparency levels keep transparency intact, optimize efficiency, and exert greater leverage over the donation network.</a:t>
            </a:r>
            <a:endParaRPr lang="en-IN" dirty="0"/>
          </a:p>
        </p:txBody>
      </p:sp>
      <p:sp>
        <p:nvSpPr>
          <p:cNvPr id="4" name="Slide Number Placeholder 3">
            <a:extLst>
              <a:ext uri="{FF2B5EF4-FFF2-40B4-BE49-F238E27FC236}">
                <a16:creationId xmlns:a16="http://schemas.microsoft.com/office/drawing/2014/main" id="{DB3025D4-DA0A-BC3F-EE23-98755BD13FE9}"/>
              </a:ext>
            </a:extLst>
          </p:cNvPr>
          <p:cNvSpPr>
            <a:spLocks noGrp="1"/>
          </p:cNvSpPr>
          <p:nvPr>
            <p:ph type="sldNum" sz="quarter" idx="10"/>
          </p:nvPr>
        </p:nvSpPr>
        <p:spPr/>
        <p:txBody>
          <a:bodyPr/>
          <a:lstStyle/>
          <a:p>
            <a:fld id="{538A4F32-1A15-4026-A9C6-8AA9C140B70F}" type="slidenum">
              <a:rPr lang="en-IN" smtClean="0"/>
              <a:t>16</a:t>
            </a:fld>
            <a:endParaRPr lang="en-IN"/>
          </a:p>
        </p:txBody>
      </p:sp>
    </p:spTree>
    <p:extLst>
      <p:ext uri="{BB962C8B-B14F-4D97-AF65-F5344CB8AC3E}">
        <p14:creationId xmlns:p14="http://schemas.microsoft.com/office/powerpoint/2010/main" val="28615053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slide presents the data storage schema for our system, describing the key entities and their roles.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Event Organizer Entity stores organizer contact details and initiates donation postings.</a:t>
            </a:r>
          </a:p>
          <a:p>
            <a:r>
              <a:rPr lang="en-US" sz="1200" b="0" i="0" kern="1200" dirty="0">
                <a:solidFill>
                  <a:schemeClr val="tx1"/>
                </a:solidFill>
                <a:effectLst/>
                <a:latin typeface="+mn-lt"/>
                <a:ea typeface="+mn-ea"/>
                <a:cs typeface="+mn-cs"/>
              </a:rPr>
              <a:t>The Charity Representative Entity manages NGO contacts, tracks notification receipts, and confirms pickup confirmations of donations.</a:t>
            </a:r>
          </a:p>
          <a:p>
            <a:r>
              <a:rPr lang="en-US" sz="1200" b="0" i="0" kern="1200" dirty="0">
                <a:solidFill>
                  <a:schemeClr val="tx1"/>
                </a:solidFill>
                <a:effectLst/>
                <a:latin typeface="+mn-lt"/>
                <a:ea typeface="+mn-ea"/>
                <a:cs typeface="+mn-cs"/>
              </a:rPr>
              <a:t>The Item Entity holds the surplus item information quantity, expiry, and surplus dates and serves as the basis for donation matching.</a:t>
            </a:r>
          </a:p>
          <a:p>
            <a:r>
              <a:rPr lang="en-US" sz="1200" b="0" i="0" kern="1200" dirty="0">
                <a:solidFill>
                  <a:schemeClr val="tx1"/>
                </a:solidFill>
                <a:effectLst/>
                <a:latin typeface="+mn-lt"/>
                <a:ea typeface="+mn-ea"/>
                <a:cs typeface="+mn-cs"/>
              </a:rPr>
              <a:t>The Donation Match Entity associates items with recipients, recording match dates and status automatically.</a:t>
            </a:r>
          </a:p>
          <a:p>
            <a:r>
              <a:rPr lang="en-US" sz="1200" b="0" i="0" kern="1200" dirty="0">
                <a:solidFill>
                  <a:schemeClr val="tx1"/>
                </a:solidFill>
                <a:effectLst/>
                <a:latin typeface="+mn-lt"/>
                <a:ea typeface="+mn-ea"/>
                <a:cs typeface="+mn-cs"/>
              </a:rPr>
              <a:t>Finally, the Notification Entity monitors notifications to recipients with message content, time, and status for easy tracking of communications.</a:t>
            </a:r>
            <a:endParaRPr lang="en-IN" dirty="0"/>
          </a:p>
        </p:txBody>
      </p:sp>
      <p:sp>
        <p:nvSpPr>
          <p:cNvPr id="4" name="Slide Number Placeholder 3"/>
          <p:cNvSpPr>
            <a:spLocks noGrp="1"/>
          </p:cNvSpPr>
          <p:nvPr>
            <p:ph type="sldNum" sz="quarter" idx="10"/>
          </p:nvPr>
        </p:nvSpPr>
        <p:spPr/>
        <p:txBody>
          <a:bodyPr/>
          <a:lstStyle/>
          <a:p>
            <a:fld id="{538A4F32-1A15-4026-A9C6-8AA9C140B70F}" type="slidenum">
              <a:rPr lang="en-IN" smtClean="0"/>
              <a:t>17</a:t>
            </a:fld>
            <a:endParaRPr lang="en-IN"/>
          </a:p>
        </p:txBody>
      </p:sp>
    </p:spTree>
    <p:extLst>
      <p:ext uri="{BB962C8B-B14F-4D97-AF65-F5344CB8AC3E}">
        <p14:creationId xmlns:p14="http://schemas.microsoft.com/office/powerpoint/2010/main" val="28455315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slide illustrates how our ERD design supports the system's efficiency and reliability. Relationships between entities like organizers, items, and representatives allow for effective tracking of surplus and proper routing of donations. We have employed foreign keys to maintain data integrity. For instance, ItemID corresponds to the donation match entity, and RepresentativeID to the notification and match records. All the attributes are chosen to facilitate effective data capture from quantities to timestamps. Finally, we’ve ensured proper normalization up to 3NF to avoid data redundancy, speed up queries, and keep entity roles clearly defined.</a:t>
            </a:r>
            <a:endParaRPr lang="en-IN" dirty="0"/>
          </a:p>
        </p:txBody>
      </p:sp>
      <p:sp>
        <p:nvSpPr>
          <p:cNvPr id="4" name="Slide Number Placeholder 3"/>
          <p:cNvSpPr>
            <a:spLocks noGrp="1"/>
          </p:cNvSpPr>
          <p:nvPr>
            <p:ph type="sldNum" sz="quarter" idx="10"/>
          </p:nvPr>
        </p:nvSpPr>
        <p:spPr/>
        <p:txBody>
          <a:bodyPr/>
          <a:lstStyle/>
          <a:p>
            <a:fld id="{538A4F32-1A15-4026-A9C6-8AA9C140B70F}" type="slidenum">
              <a:rPr lang="en-IN" smtClean="0"/>
              <a:t>18</a:t>
            </a:fld>
            <a:endParaRPr lang="en-IN"/>
          </a:p>
        </p:txBody>
      </p:sp>
    </p:spTree>
    <p:extLst>
      <p:ext uri="{BB962C8B-B14F-4D97-AF65-F5344CB8AC3E}">
        <p14:creationId xmlns:p14="http://schemas.microsoft.com/office/powerpoint/2010/main" val="13563013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Our implementation plan focuses on transforming our prototype into a fully functional system. The build will support both web and mobile platforms, with secure cloud-based deployment. For data integration, we’ll link real-time entries to inventory and notification modules using secure APIs. The system logic uses AI to prioritize matches based on urgency, location, and type, and improves over time with feedback. User interface refinement to speed and simplicity will be confirmed with mock usability testing. Quality assurance will consist of thorough unit and integration testing, representative of real-world corner cases. The communication strategy of the app is to send alerts through the app, optionally opted in using SMS or email. There is also included a user support module. Monitoring plan includes donation times and success rates monitored, and iteratively changing user feedback driving iteration. Finally, we will roll out the system in stages, starting with a pilot and growing as we mature the platform.</a:t>
            </a:r>
            <a:endParaRPr lang="en-IN" dirty="0"/>
          </a:p>
        </p:txBody>
      </p:sp>
      <p:sp>
        <p:nvSpPr>
          <p:cNvPr id="4" name="Slide Number Placeholder 3"/>
          <p:cNvSpPr>
            <a:spLocks noGrp="1"/>
          </p:cNvSpPr>
          <p:nvPr>
            <p:ph type="sldNum" sz="quarter" idx="10"/>
          </p:nvPr>
        </p:nvSpPr>
        <p:spPr/>
        <p:txBody>
          <a:bodyPr/>
          <a:lstStyle/>
          <a:p>
            <a:fld id="{538A4F32-1A15-4026-A9C6-8AA9C140B70F}" type="slidenum">
              <a:rPr lang="en-IN" smtClean="0"/>
              <a:t>19</a:t>
            </a:fld>
            <a:endParaRPr lang="en-IN"/>
          </a:p>
        </p:txBody>
      </p:sp>
    </p:spTree>
    <p:extLst>
      <p:ext uri="{BB962C8B-B14F-4D97-AF65-F5344CB8AC3E}">
        <p14:creationId xmlns:p14="http://schemas.microsoft.com/office/powerpoint/2010/main" val="7921195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After deployment, maintenance is necessary to ensure the system is reliable and operational.  As part of our maintenance strategy, we'll offer continuous bug fixing and updates while monitoring system performance and collecting feedback from users for improvements. In terms of flexibility, the system will be built to scale with the growing number of users and events. We'll also review the architecture from time to time to fit future requirements. Lastly, we’ve identified several future challenges from ensuring data security and regulatory compliance to integrating new partners and adapting to feedback. Ongoing maintenance ensures the system not only works today but evolves to meet tomorrow’s needs.</a:t>
            </a:r>
            <a:endParaRPr lang="en-IN" dirty="0"/>
          </a:p>
        </p:txBody>
      </p:sp>
      <p:sp>
        <p:nvSpPr>
          <p:cNvPr id="4" name="Slide Number Placeholder 3"/>
          <p:cNvSpPr>
            <a:spLocks noGrp="1"/>
          </p:cNvSpPr>
          <p:nvPr>
            <p:ph type="sldNum" sz="quarter" idx="10"/>
          </p:nvPr>
        </p:nvSpPr>
        <p:spPr/>
        <p:txBody>
          <a:bodyPr/>
          <a:lstStyle/>
          <a:p>
            <a:fld id="{538A4F32-1A15-4026-A9C6-8AA9C140B70F}" type="slidenum">
              <a:rPr lang="en-IN" smtClean="0"/>
              <a:t>20</a:t>
            </a:fld>
            <a:endParaRPr lang="en-IN"/>
          </a:p>
        </p:txBody>
      </p:sp>
    </p:spTree>
    <p:extLst>
      <p:ext uri="{BB962C8B-B14F-4D97-AF65-F5344CB8AC3E}">
        <p14:creationId xmlns:p14="http://schemas.microsoft.com/office/powerpoint/2010/main" val="4128154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C974B60-32A5-41F3-82DC-082FC0921103}" type="datetimeFigureOut">
              <a:rPr lang="en-IN" smtClean="0"/>
              <a:t>20-04-2025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053DA70-6EE1-4F66-A405-9A841DDD5D15}" type="slidenum">
              <a:rPr lang="en-IN" smtClean="0"/>
              <a:t>‹#›</a:t>
            </a:fld>
            <a:endParaRPr lang="en-IN"/>
          </a:p>
        </p:txBody>
      </p:sp>
    </p:spTree>
    <p:extLst>
      <p:ext uri="{BB962C8B-B14F-4D97-AF65-F5344CB8AC3E}">
        <p14:creationId xmlns:p14="http://schemas.microsoft.com/office/powerpoint/2010/main" val="27310381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974B60-32A5-41F3-82DC-082FC0921103}" type="datetimeFigureOut">
              <a:rPr lang="en-IN" smtClean="0"/>
              <a:t>20-04-2025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053DA70-6EE1-4F66-A405-9A841DDD5D15}" type="slidenum">
              <a:rPr lang="en-IN" smtClean="0"/>
              <a:t>‹#›</a:t>
            </a:fld>
            <a:endParaRPr lang="en-IN"/>
          </a:p>
        </p:txBody>
      </p:sp>
    </p:spTree>
    <p:extLst>
      <p:ext uri="{BB962C8B-B14F-4D97-AF65-F5344CB8AC3E}">
        <p14:creationId xmlns:p14="http://schemas.microsoft.com/office/powerpoint/2010/main" val="27977762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C974B60-32A5-41F3-82DC-082FC0921103}" type="datetimeFigureOut">
              <a:rPr lang="en-IN" smtClean="0"/>
              <a:t>20-04-2025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053DA70-6EE1-4F66-A405-9A841DDD5D15}" type="slidenum">
              <a:rPr lang="en-IN" smtClean="0"/>
              <a:t>‹#›</a:t>
            </a:fld>
            <a:endParaRPr lang="en-IN"/>
          </a:p>
        </p:txBody>
      </p:sp>
    </p:spTree>
    <p:extLst>
      <p:ext uri="{BB962C8B-B14F-4D97-AF65-F5344CB8AC3E}">
        <p14:creationId xmlns:p14="http://schemas.microsoft.com/office/powerpoint/2010/main" val="42886905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C974B60-32A5-41F3-82DC-082FC0921103}" type="datetimeFigureOut">
              <a:rPr lang="en-IN" smtClean="0"/>
              <a:t>20-04-2025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053DA70-6EE1-4F66-A405-9A841DDD5D15}" type="slidenum">
              <a:rPr lang="en-IN" smtClean="0"/>
              <a:t>‹#›</a:t>
            </a:fld>
            <a:endParaRPr lang="en-IN"/>
          </a:p>
        </p:txBody>
      </p:sp>
    </p:spTree>
    <p:extLst>
      <p:ext uri="{BB962C8B-B14F-4D97-AF65-F5344CB8AC3E}">
        <p14:creationId xmlns:p14="http://schemas.microsoft.com/office/powerpoint/2010/main" val="17580907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C974B60-32A5-41F3-82DC-082FC0921103}" type="datetimeFigureOut">
              <a:rPr lang="en-IN" smtClean="0"/>
              <a:t>20-04-2025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053DA70-6EE1-4F66-A405-9A841DDD5D15}" type="slidenum">
              <a:rPr lang="en-IN" smtClean="0"/>
              <a:t>‹#›</a:t>
            </a:fld>
            <a:endParaRPr lang="en-IN"/>
          </a:p>
        </p:txBody>
      </p:sp>
    </p:spTree>
    <p:extLst>
      <p:ext uri="{BB962C8B-B14F-4D97-AF65-F5344CB8AC3E}">
        <p14:creationId xmlns:p14="http://schemas.microsoft.com/office/powerpoint/2010/main" val="35945950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BC974B60-32A5-41F3-82DC-082FC0921103}" type="datetimeFigureOut">
              <a:rPr lang="en-IN" smtClean="0"/>
              <a:t>20-04-2025</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0053DA70-6EE1-4F66-A405-9A841DDD5D15}" type="slidenum">
              <a:rPr lang="en-IN" smtClean="0"/>
              <a:t>‹#›</a:t>
            </a:fld>
            <a:endParaRPr lang="en-IN"/>
          </a:p>
        </p:txBody>
      </p:sp>
    </p:spTree>
    <p:extLst>
      <p:ext uri="{BB962C8B-B14F-4D97-AF65-F5344CB8AC3E}">
        <p14:creationId xmlns:p14="http://schemas.microsoft.com/office/powerpoint/2010/main" val="24623978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BC974B60-32A5-41F3-82DC-082FC0921103}" type="datetimeFigureOut">
              <a:rPr lang="en-IN" smtClean="0"/>
              <a:t>20-04-2025</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0053DA70-6EE1-4F66-A405-9A841DDD5D15}" type="slidenum">
              <a:rPr lang="en-IN" smtClean="0"/>
              <a:t>‹#›</a:t>
            </a:fld>
            <a:endParaRPr lang="en-IN"/>
          </a:p>
        </p:txBody>
      </p:sp>
    </p:spTree>
    <p:extLst>
      <p:ext uri="{BB962C8B-B14F-4D97-AF65-F5344CB8AC3E}">
        <p14:creationId xmlns:p14="http://schemas.microsoft.com/office/powerpoint/2010/main" val="3183475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BC974B60-32A5-41F3-82DC-082FC0921103}" type="datetimeFigureOut">
              <a:rPr lang="en-IN" smtClean="0"/>
              <a:t>20-04-2025</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0053DA70-6EE1-4F66-A405-9A841DDD5D15}" type="slidenum">
              <a:rPr lang="en-IN" smtClean="0"/>
              <a:t>‹#›</a:t>
            </a:fld>
            <a:endParaRPr lang="en-IN"/>
          </a:p>
        </p:txBody>
      </p:sp>
    </p:spTree>
    <p:extLst>
      <p:ext uri="{BB962C8B-B14F-4D97-AF65-F5344CB8AC3E}">
        <p14:creationId xmlns:p14="http://schemas.microsoft.com/office/powerpoint/2010/main" val="2050905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C974B60-32A5-41F3-82DC-082FC0921103}" type="datetimeFigureOut">
              <a:rPr lang="en-IN" smtClean="0"/>
              <a:t>20-04-2025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053DA70-6EE1-4F66-A405-9A841DDD5D15}" type="slidenum">
              <a:rPr lang="en-IN" smtClean="0"/>
              <a:t>‹#›</a:t>
            </a:fld>
            <a:endParaRPr lang="en-IN"/>
          </a:p>
        </p:txBody>
      </p:sp>
    </p:spTree>
    <p:extLst>
      <p:ext uri="{BB962C8B-B14F-4D97-AF65-F5344CB8AC3E}">
        <p14:creationId xmlns:p14="http://schemas.microsoft.com/office/powerpoint/2010/main" val="15508610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C974B60-32A5-41F3-82DC-082FC0921103}" type="datetimeFigureOut">
              <a:rPr lang="en-IN" smtClean="0"/>
              <a:t>20-04-2025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053DA70-6EE1-4F66-A405-9A841DDD5D15}" type="slidenum">
              <a:rPr lang="en-IN" smtClean="0"/>
              <a:t>‹#›</a:t>
            </a:fld>
            <a:endParaRPr lang="en-IN"/>
          </a:p>
        </p:txBody>
      </p:sp>
    </p:spTree>
    <p:extLst>
      <p:ext uri="{BB962C8B-B14F-4D97-AF65-F5344CB8AC3E}">
        <p14:creationId xmlns:p14="http://schemas.microsoft.com/office/powerpoint/2010/main" val="9777266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C974B60-32A5-41F3-82DC-082FC0921103}" type="datetimeFigureOut">
              <a:rPr lang="en-IN" smtClean="0"/>
              <a:t>20-04-2025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053DA70-6EE1-4F66-A405-9A841DDD5D15}" type="slidenum">
              <a:rPr lang="en-IN" smtClean="0"/>
              <a:t>‹#›</a:t>
            </a:fld>
            <a:endParaRPr lang="en-IN"/>
          </a:p>
        </p:txBody>
      </p:sp>
    </p:spTree>
    <p:extLst>
      <p:ext uri="{BB962C8B-B14F-4D97-AF65-F5344CB8AC3E}">
        <p14:creationId xmlns:p14="http://schemas.microsoft.com/office/powerpoint/2010/main" val="22327634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C974B60-32A5-41F3-82DC-082FC0921103}" type="datetimeFigureOut">
              <a:rPr lang="en-IN" smtClean="0"/>
              <a:t>20-04-2025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053DA70-6EE1-4F66-A405-9A841DDD5D15}" type="slidenum">
              <a:rPr lang="en-IN" smtClean="0"/>
              <a:t>‹#›</a:t>
            </a:fld>
            <a:endParaRPr lang="en-IN"/>
          </a:p>
        </p:txBody>
      </p:sp>
      <p:sp>
        <p:nvSpPr>
          <p:cNvPr id="9" name="TextBox 8"/>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1539553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C974B60-32A5-41F3-82DC-082FC0921103}" type="datetimeFigureOut">
              <a:rPr lang="en-IN" smtClean="0"/>
              <a:t>20-04-2025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053DA70-6EE1-4F66-A405-9A841DDD5D15}" type="slidenum">
              <a:rPr lang="en-IN" smtClean="0"/>
              <a:t>‹#›</a:t>
            </a:fld>
            <a:endParaRPr lang="en-IN"/>
          </a:p>
        </p:txBody>
      </p:sp>
    </p:spTree>
    <p:extLst>
      <p:ext uri="{BB962C8B-B14F-4D97-AF65-F5344CB8AC3E}">
        <p14:creationId xmlns:p14="http://schemas.microsoft.com/office/powerpoint/2010/main" val="12659757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C974B60-32A5-41F3-82DC-082FC0921103}" type="datetimeFigureOut">
              <a:rPr lang="en-IN" smtClean="0"/>
              <a:t>20-04-2025</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053DA70-6EE1-4F66-A405-9A841DDD5D15}" type="slidenum">
              <a:rPr lang="en-IN" smtClean="0"/>
              <a:t>‹#›</a:t>
            </a:fld>
            <a:endParaRPr lang="en-IN"/>
          </a:p>
        </p:txBody>
      </p:sp>
    </p:spTree>
    <p:extLst>
      <p:ext uri="{BB962C8B-B14F-4D97-AF65-F5344CB8AC3E}">
        <p14:creationId xmlns:p14="http://schemas.microsoft.com/office/powerpoint/2010/main" val="29214663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C974B60-32A5-41F3-82DC-082FC0921103}" type="datetimeFigureOut">
              <a:rPr lang="en-IN" smtClean="0"/>
              <a:t>20-04-2025</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053DA70-6EE1-4F66-A405-9A841DDD5D15}" type="slidenum">
              <a:rPr lang="en-IN" smtClean="0"/>
              <a:t>‹#›</a:t>
            </a:fld>
            <a:endParaRPr lang="en-IN"/>
          </a:p>
        </p:txBody>
      </p:sp>
    </p:spTree>
    <p:extLst>
      <p:ext uri="{BB962C8B-B14F-4D97-AF65-F5344CB8AC3E}">
        <p14:creationId xmlns:p14="http://schemas.microsoft.com/office/powerpoint/2010/main" val="15894923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974B60-32A5-41F3-82DC-082FC0921103}" type="datetimeFigureOut">
              <a:rPr lang="en-IN" smtClean="0"/>
              <a:t>20-04-2025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053DA70-6EE1-4F66-A405-9A841DDD5D15}" type="slidenum">
              <a:rPr lang="en-IN" smtClean="0"/>
              <a:t>‹#›</a:t>
            </a:fld>
            <a:endParaRPr lang="en-IN"/>
          </a:p>
        </p:txBody>
      </p:sp>
    </p:spTree>
    <p:extLst>
      <p:ext uri="{BB962C8B-B14F-4D97-AF65-F5344CB8AC3E}">
        <p14:creationId xmlns:p14="http://schemas.microsoft.com/office/powerpoint/2010/main" val="38787715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974B60-32A5-41F3-82DC-082FC0921103}" type="datetimeFigureOut">
              <a:rPr lang="en-IN" smtClean="0"/>
              <a:t>20-04-2025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053DA70-6EE1-4F66-A405-9A841DDD5D15}" type="slidenum">
              <a:rPr lang="en-IN" smtClean="0"/>
              <a:t>‹#›</a:t>
            </a:fld>
            <a:endParaRPr lang="en-IN"/>
          </a:p>
        </p:txBody>
      </p:sp>
    </p:spTree>
    <p:extLst>
      <p:ext uri="{BB962C8B-B14F-4D97-AF65-F5344CB8AC3E}">
        <p14:creationId xmlns:p14="http://schemas.microsoft.com/office/powerpoint/2010/main" val="32912165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BC974B60-32A5-41F3-82DC-082FC0921103}" type="datetimeFigureOut">
              <a:rPr lang="en-IN" smtClean="0"/>
              <a:t>20-04-2025</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0053DA70-6EE1-4F66-A405-9A841DDD5D15}" type="slidenum">
              <a:rPr lang="en-IN" smtClean="0"/>
              <a:t>‹#›</a:t>
            </a:fld>
            <a:endParaRPr lang="en-IN"/>
          </a:p>
        </p:txBody>
      </p:sp>
    </p:spTree>
    <p:extLst>
      <p:ext uri="{BB962C8B-B14F-4D97-AF65-F5344CB8AC3E}">
        <p14:creationId xmlns:p14="http://schemas.microsoft.com/office/powerpoint/2010/main" val="1680483574"/>
      </p:ext>
    </p:extLst>
  </p:cSld>
  <p:clrMap bg1="dk1" tx1="lt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18477" y="2525973"/>
            <a:ext cx="10526762" cy="1480335"/>
          </a:xfrm>
        </p:spPr>
        <p:txBody>
          <a:bodyPr>
            <a:normAutofit fontScale="90000"/>
          </a:bodyPr>
          <a:lstStyle/>
          <a:p>
            <a:r>
              <a:rPr lang="en-US" sz="5400" b="1" u="sng" dirty="0">
                <a:solidFill>
                  <a:schemeClr val="tx1"/>
                </a:solidFill>
              </a:rPr>
              <a:t>EVENT LEFTOVER REDISTRIBUTION SYSTEM</a:t>
            </a:r>
            <a:endParaRPr lang="en-IN" sz="5400" b="1" u="sng" dirty="0">
              <a:solidFill>
                <a:schemeClr val="tx1"/>
              </a:solidFill>
            </a:endParaRPr>
          </a:p>
        </p:txBody>
      </p:sp>
    </p:spTree>
    <p:extLst>
      <p:ext uri="{BB962C8B-B14F-4D97-AF65-F5344CB8AC3E}">
        <p14:creationId xmlns:p14="http://schemas.microsoft.com/office/powerpoint/2010/main" val="33849837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b="1" dirty="0">
                <a:solidFill>
                  <a:srgbClr val="FFFF00"/>
                </a:solidFill>
                <a:latin typeface="Bahnschrift" panose="020B0502040204020203" pitchFamily="34" charset="0"/>
              </a:rPr>
              <a:t>1. Industry Background: Social Services</a:t>
            </a:r>
          </a:p>
        </p:txBody>
      </p:sp>
      <p:sp>
        <p:nvSpPr>
          <p:cNvPr id="3" name="Content Placeholder 2"/>
          <p:cNvSpPr>
            <a:spLocks noGrp="1"/>
          </p:cNvSpPr>
          <p:nvPr>
            <p:ph idx="1"/>
          </p:nvPr>
        </p:nvSpPr>
        <p:spPr>
          <a:xfrm>
            <a:off x="777922" y="1978925"/>
            <a:ext cx="10309745" cy="4046659"/>
          </a:xfrm>
        </p:spPr>
        <p:txBody>
          <a:bodyPr>
            <a:normAutofit lnSpcReduction="10000"/>
          </a:bodyPr>
          <a:lstStyle/>
          <a:p>
            <a:pPr>
              <a:lnSpc>
                <a:spcPct val="150000"/>
              </a:lnSpc>
              <a:buFont typeface="Arial" panose="020B0604020202020204" pitchFamily="34" charset="0"/>
              <a:buChar char="•"/>
            </a:pPr>
            <a:r>
              <a:rPr lang="en-US" b="1" dirty="0">
                <a:solidFill>
                  <a:srgbClr val="FFFF00"/>
                </a:solidFill>
                <a:latin typeface="Bahnschrift" panose="020B0502040204020203" pitchFamily="34" charset="0"/>
              </a:rPr>
              <a:t>Nature of Industry:</a:t>
            </a:r>
            <a:r>
              <a:rPr lang="en-US" b="1" dirty="0">
                <a:latin typeface="Bahnschrift" panose="020B0502040204020203" pitchFamily="34" charset="0"/>
              </a:rPr>
              <a:t> </a:t>
            </a:r>
            <a:r>
              <a:rPr lang="en-US" dirty="0">
                <a:latin typeface="Bahnschrift" panose="020B0502040204020203" pitchFamily="34" charset="0"/>
              </a:rPr>
              <a:t> Food wastage at events and undernourishment in local communities.</a:t>
            </a:r>
          </a:p>
          <a:p>
            <a:pPr>
              <a:lnSpc>
                <a:spcPct val="150000"/>
              </a:lnSpc>
              <a:buFont typeface="Arial" panose="020B0604020202020204" pitchFamily="34" charset="0"/>
              <a:buChar char="•"/>
            </a:pPr>
            <a:r>
              <a:rPr lang="en-US" b="1" dirty="0">
                <a:solidFill>
                  <a:srgbClr val="FFFF00"/>
                </a:solidFill>
                <a:latin typeface="Bahnschrift" panose="020B0502040204020203" pitchFamily="34" charset="0"/>
              </a:rPr>
              <a:t>Organization: </a:t>
            </a:r>
            <a:r>
              <a:rPr lang="en-US" dirty="0">
                <a:latin typeface="Bahnschrift" panose="020B0502040204020203" pitchFamily="34" charset="0"/>
              </a:rPr>
              <a:t>Community-based NGO focused on food redistribution.</a:t>
            </a:r>
            <a:endParaRPr lang="en-US" dirty="0">
              <a:solidFill>
                <a:srgbClr val="FFFF00"/>
              </a:solidFill>
              <a:latin typeface="Bahnschrift" panose="020B0502040204020203" pitchFamily="34" charset="0"/>
            </a:endParaRPr>
          </a:p>
          <a:p>
            <a:pPr>
              <a:lnSpc>
                <a:spcPct val="150000"/>
              </a:lnSpc>
              <a:buFont typeface="Arial" panose="020B0604020202020204" pitchFamily="34" charset="0"/>
              <a:buChar char="•"/>
            </a:pPr>
            <a:r>
              <a:rPr lang="en-US" b="1" dirty="0">
                <a:solidFill>
                  <a:srgbClr val="FFFF00"/>
                </a:solidFill>
                <a:latin typeface="Bahnschrift" panose="020B0502040204020203" pitchFamily="34" charset="0"/>
              </a:rPr>
              <a:t>Advancements: </a:t>
            </a:r>
            <a:r>
              <a:rPr lang="en-US" dirty="0">
                <a:latin typeface="Bahnschrift" panose="020B0502040204020203" pitchFamily="34" charset="0"/>
              </a:rPr>
              <a:t>The industry is evolving using cloud computing, AI-powered matching algorithms, and automated notification systems to streamline and scale donation processes.</a:t>
            </a:r>
          </a:p>
          <a:p>
            <a:pPr>
              <a:lnSpc>
                <a:spcPct val="150000"/>
              </a:lnSpc>
              <a:buFont typeface="Arial" panose="020B0604020202020204" pitchFamily="34" charset="0"/>
              <a:buChar char="•"/>
            </a:pPr>
            <a:r>
              <a:rPr lang="en-US" b="1" dirty="0">
                <a:solidFill>
                  <a:srgbClr val="FFFF00"/>
                </a:solidFill>
                <a:latin typeface="Bahnschrift" panose="020B0502040204020203" pitchFamily="34" charset="0"/>
              </a:rPr>
              <a:t>Objectives: </a:t>
            </a:r>
            <a:r>
              <a:rPr lang="en-US" dirty="0">
                <a:latin typeface="Bahnschrift" panose="020B0502040204020203" pitchFamily="34" charset="0"/>
              </a:rPr>
              <a:t>Our main goal is to use technology to streamline the donation process, reduce food waste at events, and improve food accessibility for people in need.</a:t>
            </a:r>
            <a:endParaRPr lang="en-IN" dirty="0">
              <a:latin typeface="Bahnschrift" panose="020B0502040204020203" pitchFamily="34" charset="0"/>
            </a:endParaRPr>
          </a:p>
        </p:txBody>
      </p:sp>
    </p:spTree>
    <p:extLst>
      <p:ext uri="{BB962C8B-B14F-4D97-AF65-F5344CB8AC3E}">
        <p14:creationId xmlns:p14="http://schemas.microsoft.com/office/powerpoint/2010/main" val="7413101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304165"/>
            <a:ext cx="10515600" cy="1325563"/>
          </a:xfrm>
        </p:spPr>
        <p:txBody>
          <a:bodyPr>
            <a:noAutofit/>
          </a:bodyPr>
          <a:lstStyle/>
          <a:p>
            <a:r>
              <a:rPr lang="en-US" sz="3600" b="1" dirty="0">
                <a:solidFill>
                  <a:srgbClr val="FFFF00"/>
                </a:solidFill>
                <a:latin typeface="Bahnschrift" panose="020B0502040204020203" pitchFamily="34" charset="0"/>
              </a:rPr>
              <a:t>Organization Background: Local Food Redistribution Initiative</a:t>
            </a:r>
            <a:br>
              <a:rPr lang="en-US" sz="3600" b="1" dirty="0">
                <a:solidFill>
                  <a:srgbClr val="FFFF00"/>
                </a:solidFill>
                <a:latin typeface="Bahnschrift" panose="020B0502040204020203" pitchFamily="34" charset="0"/>
              </a:rPr>
            </a:br>
            <a:endParaRPr lang="en-IN" sz="3600" b="1" dirty="0">
              <a:solidFill>
                <a:srgbClr val="FFFF00"/>
              </a:solidFill>
              <a:latin typeface="Bahnschrift" panose="020B0502040204020203" pitchFamily="34" charset="0"/>
            </a:endParaRPr>
          </a:p>
        </p:txBody>
      </p:sp>
      <p:sp>
        <p:nvSpPr>
          <p:cNvPr id="3" name="Content Placeholder 2"/>
          <p:cNvSpPr>
            <a:spLocks noGrp="1"/>
          </p:cNvSpPr>
          <p:nvPr>
            <p:ph idx="1"/>
          </p:nvPr>
        </p:nvSpPr>
        <p:spPr>
          <a:xfrm>
            <a:off x="778667" y="1692452"/>
            <a:ext cx="10250487" cy="3702993"/>
          </a:xfrm>
        </p:spPr>
        <p:txBody>
          <a:bodyPr>
            <a:noAutofit/>
          </a:bodyPr>
          <a:lstStyle/>
          <a:p>
            <a:pPr marL="0" indent="0">
              <a:lnSpc>
                <a:spcPct val="150000"/>
              </a:lnSpc>
              <a:buNone/>
            </a:pPr>
            <a:r>
              <a:rPr lang="en-US" sz="2000" b="1" dirty="0">
                <a:solidFill>
                  <a:srgbClr val="FFFF00"/>
                </a:solidFill>
                <a:latin typeface="Bahnschrift" panose="020B0502040204020203" pitchFamily="34" charset="0"/>
              </a:rPr>
              <a:t>1. Type of Organization: </a:t>
            </a:r>
            <a:r>
              <a:rPr lang="en-US" sz="2000" dirty="0">
                <a:latin typeface="Bahnschrift" panose="020B0502040204020203" pitchFamily="34" charset="0"/>
              </a:rPr>
              <a:t>A nonprofit organization focused on sustainable food redistribution and reducing event-related food waste.</a:t>
            </a:r>
          </a:p>
          <a:p>
            <a:pPr marL="0" indent="0">
              <a:lnSpc>
                <a:spcPct val="150000"/>
              </a:lnSpc>
              <a:buNone/>
            </a:pPr>
            <a:r>
              <a:rPr lang="en-US" sz="2000" b="1" dirty="0">
                <a:solidFill>
                  <a:srgbClr val="FFFF00"/>
                </a:solidFill>
                <a:latin typeface="Bahnschrift" panose="020B0502040204020203" pitchFamily="34" charset="0"/>
              </a:rPr>
              <a:t>2. Strategic Focus: </a:t>
            </a:r>
            <a:r>
              <a:rPr lang="en-US" sz="2000" dirty="0">
                <a:latin typeface="Bahnschrift" panose="020B0502040204020203" pitchFamily="34" charset="0"/>
              </a:rPr>
              <a:t>Dedicated to using technology to bridge the gap between event planners and food charities through real-time matching and coordination.</a:t>
            </a:r>
          </a:p>
          <a:p>
            <a:pPr marL="0" indent="0">
              <a:lnSpc>
                <a:spcPct val="150000"/>
              </a:lnSpc>
              <a:buNone/>
            </a:pPr>
            <a:r>
              <a:rPr lang="en-US" sz="2000" b="1" dirty="0">
                <a:solidFill>
                  <a:srgbClr val="FFFF00"/>
                </a:solidFill>
                <a:latin typeface="Bahnschrift" panose="020B0502040204020203" pitchFamily="34" charset="0"/>
              </a:rPr>
              <a:t>3. Leadership Vision:</a:t>
            </a:r>
            <a:r>
              <a:rPr lang="en-US" sz="2000" dirty="0">
                <a:solidFill>
                  <a:srgbClr val="FFFF00"/>
                </a:solidFill>
                <a:latin typeface="Bahnschrift" panose="020B0502040204020203" pitchFamily="34" charset="0"/>
              </a:rPr>
              <a:t> </a:t>
            </a:r>
            <a:r>
              <a:rPr lang="en-US" sz="2000" dirty="0">
                <a:latin typeface="Bahnschrift" panose="020B0502040204020203" pitchFamily="34" charset="0"/>
              </a:rPr>
              <a:t>Committed to becoming a central player in community driven food recovery by deploying AI powered redistribution systems.</a:t>
            </a:r>
          </a:p>
          <a:p>
            <a:pPr marL="0" indent="0">
              <a:lnSpc>
                <a:spcPct val="150000"/>
              </a:lnSpc>
              <a:buNone/>
            </a:pPr>
            <a:r>
              <a:rPr lang="en-US" sz="2000" b="1" dirty="0">
                <a:solidFill>
                  <a:srgbClr val="FFFF00"/>
                </a:solidFill>
                <a:latin typeface="Bahnschrift" panose="020B0502040204020203" pitchFamily="34" charset="0"/>
              </a:rPr>
              <a:t>4. Commitment to Innovation:</a:t>
            </a:r>
            <a:r>
              <a:rPr lang="en-US" sz="2000" dirty="0">
                <a:latin typeface="Bahnschrift" panose="020B0502040204020203" pitchFamily="34" charset="0"/>
              </a:rPr>
              <a:t> Embraces digital transformation through automation, cloud computing, and smart logistics to ensure no food is wasted after events.</a:t>
            </a:r>
            <a:endParaRPr lang="en-US" sz="2000" dirty="0"/>
          </a:p>
          <a:p>
            <a:endParaRPr lang="en-US" sz="2000" dirty="0"/>
          </a:p>
        </p:txBody>
      </p:sp>
    </p:spTree>
    <p:extLst>
      <p:ext uri="{BB962C8B-B14F-4D97-AF65-F5344CB8AC3E}">
        <p14:creationId xmlns:p14="http://schemas.microsoft.com/office/powerpoint/2010/main" val="36456001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252728" y="1118676"/>
            <a:ext cx="9802368" cy="3477875"/>
          </a:xfrm>
          <a:prstGeom prst="rect">
            <a:avLst/>
          </a:prstGeom>
        </p:spPr>
        <p:txBody>
          <a:bodyPr wrap="square">
            <a:spAutoFit/>
          </a:bodyPr>
          <a:lstStyle/>
          <a:p>
            <a:r>
              <a:rPr lang="en-IN" sz="2000" b="1" dirty="0">
                <a:solidFill>
                  <a:srgbClr val="FFFF00"/>
                </a:solidFill>
                <a:latin typeface="Bahnschrift" panose="020B0502040204020203" pitchFamily="34" charset="0"/>
              </a:rPr>
              <a:t>5. Position in the Industry: </a:t>
            </a:r>
            <a:r>
              <a:rPr lang="en-US" sz="2000" dirty="0">
                <a:latin typeface="Bahnschrift" panose="020B0502040204020203" pitchFamily="34" charset="0"/>
              </a:rPr>
              <a:t>Aims to be a community leader in tech-driven food recovery.</a:t>
            </a:r>
            <a:endParaRPr lang="en-IN" sz="2000" dirty="0">
              <a:latin typeface="Bahnschrift" panose="020B0502040204020203" pitchFamily="34" charset="0"/>
            </a:endParaRPr>
          </a:p>
          <a:p>
            <a:pPr marL="342900" indent="-342900">
              <a:buFont typeface="Arial" panose="020B0604020202020204" pitchFamily="34" charset="0"/>
              <a:buChar char="•"/>
            </a:pPr>
            <a:endParaRPr lang="en-IN" sz="2000" dirty="0">
              <a:latin typeface="Bahnschrift" panose="020B0502040204020203" pitchFamily="34" charset="0"/>
            </a:endParaRPr>
          </a:p>
          <a:p>
            <a:r>
              <a:rPr lang="en-IN" sz="2000" b="1" dirty="0">
                <a:solidFill>
                  <a:srgbClr val="FFFF00"/>
                </a:solidFill>
                <a:latin typeface="Bahnschrift" panose="020B0502040204020203" pitchFamily="34" charset="0"/>
              </a:rPr>
              <a:t>6. Emphasis on Patient Experience: </a:t>
            </a:r>
            <a:r>
              <a:rPr lang="en-US" sz="2000" dirty="0">
                <a:latin typeface="Bahnschrift" panose="020B0502040204020203" pitchFamily="34" charset="0"/>
              </a:rPr>
              <a:t>Strives to simplify the process for event planners to donate surplus.</a:t>
            </a:r>
          </a:p>
          <a:p>
            <a:endParaRPr lang="en-IN" sz="2000" dirty="0">
              <a:latin typeface="Bahnschrift" panose="020B0502040204020203" pitchFamily="34" charset="0"/>
            </a:endParaRPr>
          </a:p>
          <a:p>
            <a:r>
              <a:rPr lang="en-IN" sz="2000" b="1" dirty="0">
                <a:solidFill>
                  <a:srgbClr val="FFFF00"/>
                </a:solidFill>
                <a:latin typeface="Bahnschrift" panose="020B0502040204020203" pitchFamily="34" charset="0"/>
              </a:rPr>
              <a:t>7. Emphasis on Patient Experience: </a:t>
            </a:r>
            <a:r>
              <a:rPr lang="en-US" sz="2000" dirty="0">
                <a:latin typeface="Bahnschrift" panose="020B0502040204020203" pitchFamily="34" charset="0"/>
              </a:rPr>
              <a:t>Ensures NGOs and shelters get timely, relevant donation alerts.</a:t>
            </a:r>
          </a:p>
          <a:p>
            <a:endParaRPr lang="en-IN" sz="2000" dirty="0">
              <a:latin typeface="Bahnschrift" panose="020B0502040204020203" pitchFamily="34" charset="0"/>
            </a:endParaRPr>
          </a:p>
          <a:p>
            <a:r>
              <a:rPr lang="en-IN" sz="2000" b="1" dirty="0">
                <a:solidFill>
                  <a:srgbClr val="FFFF00"/>
                </a:solidFill>
                <a:latin typeface="Bahnschrift" panose="020B0502040204020203" pitchFamily="34" charset="0"/>
              </a:rPr>
              <a:t>8. Recognition of Technology's Role:</a:t>
            </a:r>
            <a:r>
              <a:rPr lang="en-IN" sz="2000" dirty="0">
                <a:solidFill>
                  <a:srgbClr val="002060"/>
                </a:solidFill>
                <a:latin typeface="Bahnschrift" panose="020B0502040204020203" pitchFamily="34" charset="0"/>
              </a:rPr>
              <a:t> </a:t>
            </a:r>
            <a:r>
              <a:rPr lang="en-US" sz="2000" dirty="0">
                <a:latin typeface="Bahnschrift" panose="020B0502040204020203" pitchFamily="34" charset="0"/>
              </a:rPr>
              <a:t>Actively integrating AI, cloud tools, and mobile technology for efficiency.</a:t>
            </a:r>
            <a:endParaRPr lang="en-IN" sz="2000" dirty="0">
              <a:latin typeface="Bahnschrift" panose="020B0502040204020203" pitchFamily="34" charset="0"/>
            </a:endParaRPr>
          </a:p>
        </p:txBody>
      </p:sp>
    </p:spTree>
    <p:extLst>
      <p:ext uri="{BB962C8B-B14F-4D97-AF65-F5344CB8AC3E}">
        <p14:creationId xmlns:p14="http://schemas.microsoft.com/office/powerpoint/2010/main" val="29486048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FF00"/>
                </a:solidFill>
                <a:latin typeface="Bahnschrift" panose="020B0502040204020203" pitchFamily="34" charset="0"/>
              </a:rPr>
              <a:t>2. Planning Phase</a:t>
            </a:r>
            <a:endParaRPr lang="en-IN" dirty="0">
              <a:solidFill>
                <a:srgbClr val="FFFF00"/>
              </a:solidFill>
              <a:latin typeface="Bahnschrift" panose="020B0502040204020203" pitchFamily="34" charset="0"/>
            </a:endParaRPr>
          </a:p>
        </p:txBody>
      </p:sp>
      <p:sp>
        <p:nvSpPr>
          <p:cNvPr id="3" name="Content Placeholder 2"/>
          <p:cNvSpPr>
            <a:spLocks noGrp="1"/>
          </p:cNvSpPr>
          <p:nvPr>
            <p:ph idx="1"/>
          </p:nvPr>
        </p:nvSpPr>
        <p:spPr/>
        <p:txBody>
          <a:bodyPr>
            <a:noAutofit/>
          </a:bodyPr>
          <a:lstStyle/>
          <a:p>
            <a:pPr marL="0" indent="0">
              <a:buNone/>
            </a:pPr>
            <a:r>
              <a:rPr lang="en-US" sz="2000" b="1" dirty="0">
                <a:solidFill>
                  <a:srgbClr val="FFFF00"/>
                </a:solidFill>
                <a:latin typeface="Bahnschrift" panose="020B0502040204020203" pitchFamily="34" charset="0"/>
              </a:rPr>
              <a:t>Project Identification:</a:t>
            </a:r>
          </a:p>
          <a:p>
            <a:pPr marL="0" indent="0">
              <a:buNone/>
            </a:pPr>
            <a:r>
              <a:rPr lang="en-US" sz="2000" dirty="0">
                <a:solidFill>
                  <a:srgbClr val="FFFF00"/>
                </a:solidFill>
                <a:latin typeface="Bahnschrift" panose="020B0502040204020203" pitchFamily="34" charset="0"/>
              </a:rPr>
              <a:t>"As-Is" System:</a:t>
            </a:r>
          </a:p>
          <a:p>
            <a:pPr>
              <a:buFont typeface="Arial" panose="020B0604020202020204" pitchFamily="34" charset="0"/>
              <a:buChar char="•"/>
            </a:pPr>
            <a:r>
              <a:rPr lang="en-US" sz="2000" dirty="0">
                <a:latin typeface="Bahnschrift" panose="020B0502040204020203" pitchFamily="34" charset="0"/>
              </a:rPr>
              <a:t>Surplus food redistribution is handled manually by calls or spreadsheets.</a:t>
            </a:r>
          </a:p>
          <a:p>
            <a:pPr>
              <a:buFont typeface="Arial" panose="020B0604020202020204" pitchFamily="34" charset="0"/>
              <a:buChar char="•"/>
            </a:pPr>
            <a:r>
              <a:rPr lang="en-US" sz="2000" dirty="0">
                <a:latin typeface="Bahnschrift" panose="020B0502040204020203" pitchFamily="34" charset="0"/>
              </a:rPr>
              <a:t>Event organizers have no way to broadcast available leftovers to multiple charities at once.</a:t>
            </a:r>
          </a:p>
          <a:p>
            <a:pPr>
              <a:buFont typeface="Arial" panose="020B0604020202020204" pitchFamily="34" charset="0"/>
              <a:buChar char="•"/>
            </a:pPr>
            <a:r>
              <a:rPr lang="en-US" sz="2000" dirty="0">
                <a:latin typeface="Bahnschrift" panose="020B0502040204020203" pitchFamily="34" charset="0"/>
              </a:rPr>
              <a:t>Charities often miss opportunities due to delayed or lost communication.</a:t>
            </a:r>
          </a:p>
          <a:p>
            <a:pPr>
              <a:buFont typeface="Arial" panose="020B0604020202020204" pitchFamily="34" charset="0"/>
              <a:buChar char="•"/>
            </a:pPr>
            <a:r>
              <a:rPr lang="en-US" sz="2000" dirty="0">
                <a:latin typeface="Bahnschrift" panose="020B0502040204020203" pitchFamily="34" charset="0"/>
              </a:rPr>
              <a:t>No system exists to track donations or ensure timely pickups.</a:t>
            </a:r>
          </a:p>
          <a:p>
            <a:pPr>
              <a:buFont typeface="Arial" panose="020B0604020202020204" pitchFamily="34" charset="0"/>
              <a:buChar char="•"/>
            </a:pPr>
            <a:r>
              <a:rPr lang="en-US" sz="2000" dirty="0">
                <a:latin typeface="Bahnschrift" panose="020B0502040204020203" pitchFamily="34" charset="0"/>
              </a:rPr>
              <a:t>As a result, a significant amount of food goes to waste after events.</a:t>
            </a:r>
          </a:p>
          <a:p>
            <a:pPr>
              <a:buFont typeface="Arial" panose="020B0604020202020204" pitchFamily="34" charset="0"/>
              <a:buChar char="•"/>
            </a:pPr>
            <a:endParaRPr lang="en-US" sz="2000" dirty="0">
              <a:latin typeface="Bahnschrift" panose="020B0502040204020203" pitchFamily="34" charset="0"/>
            </a:endParaRPr>
          </a:p>
        </p:txBody>
      </p:sp>
    </p:spTree>
    <p:extLst>
      <p:ext uri="{BB962C8B-B14F-4D97-AF65-F5344CB8AC3E}">
        <p14:creationId xmlns:p14="http://schemas.microsoft.com/office/powerpoint/2010/main" val="30011312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84466" y="997248"/>
            <a:ext cx="9404723" cy="1400530"/>
          </a:xfrm>
        </p:spPr>
        <p:txBody>
          <a:bodyPr/>
          <a:lstStyle/>
          <a:p>
            <a:r>
              <a:rPr lang="en-US" dirty="0">
                <a:solidFill>
                  <a:srgbClr val="FFFF00"/>
                </a:solidFill>
                <a:latin typeface="Bahnschrift" panose="020B0502040204020203" pitchFamily="34" charset="0"/>
              </a:rPr>
              <a:t>Current Problems</a:t>
            </a:r>
            <a:endParaRPr lang="en-IN" dirty="0">
              <a:solidFill>
                <a:srgbClr val="FFFF00"/>
              </a:solidFill>
              <a:latin typeface="Bahnschrift" panose="020B0502040204020203" pitchFamily="34" charset="0"/>
            </a:endParaRPr>
          </a:p>
        </p:txBody>
      </p:sp>
      <p:sp>
        <p:nvSpPr>
          <p:cNvPr id="6" name="Content Placeholder 5"/>
          <p:cNvSpPr>
            <a:spLocks noGrp="1"/>
          </p:cNvSpPr>
          <p:nvPr>
            <p:ph idx="1"/>
          </p:nvPr>
        </p:nvSpPr>
        <p:spPr>
          <a:xfrm>
            <a:off x="1295402" y="2517603"/>
            <a:ext cx="9601196" cy="3318936"/>
          </a:xfrm>
        </p:spPr>
        <p:txBody>
          <a:bodyPr>
            <a:noAutofit/>
          </a:bodyPr>
          <a:lstStyle/>
          <a:p>
            <a:r>
              <a:rPr lang="en-US" sz="2400" dirty="0">
                <a:latin typeface="Bahnschrift" panose="020B0502040204020203" pitchFamily="34" charset="0"/>
              </a:rPr>
              <a:t>Lack of a centralized system to post and manage surplus donations.</a:t>
            </a:r>
          </a:p>
          <a:p>
            <a:r>
              <a:rPr lang="en-US" sz="2400" dirty="0">
                <a:latin typeface="Bahnschrift" panose="020B0502040204020203" pitchFamily="34" charset="0"/>
              </a:rPr>
              <a:t>Manual coordination leads to slow responses and missed pickups.</a:t>
            </a:r>
          </a:p>
          <a:p>
            <a:r>
              <a:rPr lang="en-US" sz="2400" dirty="0">
                <a:latin typeface="Bahnschrift" panose="020B0502040204020203" pitchFamily="34" charset="0"/>
              </a:rPr>
              <a:t>No real-time alerts for charities, resulting in food wastage.</a:t>
            </a:r>
          </a:p>
          <a:p>
            <a:r>
              <a:rPr lang="en-US" sz="2400" dirty="0">
                <a:latin typeface="Bahnschrift" panose="020B0502040204020203" pitchFamily="34" charset="0"/>
              </a:rPr>
              <a:t>Donor and recipient communication is inefficient and untracked.</a:t>
            </a:r>
          </a:p>
          <a:p>
            <a:r>
              <a:rPr lang="en-US" sz="2400" dirty="0">
                <a:latin typeface="Bahnschrift" panose="020B0502040204020203" pitchFamily="34" charset="0"/>
              </a:rPr>
              <a:t>Limited visibility into inventory and donation history</a:t>
            </a:r>
            <a:endParaRPr lang="en-IN" sz="2400" dirty="0">
              <a:latin typeface="Bahnschrift" panose="020B0502040204020203" pitchFamily="34" charset="0"/>
            </a:endParaRPr>
          </a:p>
        </p:txBody>
      </p:sp>
    </p:spTree>
    <p:extLst>
      <p:ext uri="{BB962C8B-B14F-4D97-AF65-F5344CB8AC3E}">
        <p14:creationId xmlns:p14="http://schemas.microsoft.com/office/powerpoint/2010/main" val="9637759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92467"/>
            <a:ext cx="9404723" cy="811659"/>
          </a:xfrm>
        </p:spPr>
        <p:txBody>
          <a:bodyPr/>
          <a:lstStyle/>
          <a:p>
            <a:r>
              <a:rPr lang="en-US" sz="4000" b="1" dirty="0">
                <a:solidFill>
                  <a:srgbClr val="FFFF00"/>
                </a:solidFill>
              </a:rPr>
              <a:t>Add Values</a:t>
            </a:r>
            <a:endParaRPr lang="en-IN" sz="4000" b="1" dirty="0">
              <a:solidFill>
                <a:srgbClr val="FFFF00"/>
              </a:solidFill>
            </a:endParaRPr>
          </a:p>
        </p:txBody>
      </p:sp>
      <p:sp>
        <p:nvSpPr>
          <p:cNvPr id="3" name="Content Placeholder 2"/>
          <p:cNvSpPr>
            <a:spLocks noGrp="1"/>
          </p:cNvSpPr>
          <p:nvPr>
            <p:ph idx="1"/>
          </p:nvPr>
        </p:nvSpPr>
        <p:spPr>
          <a:xfrm>
            <a:off x="431515" y="1099335"/>
            <a:ext cx="11537877" cy="5496673"/>
          </a:xfrm>
        </p:spPr>
        <p:txBody>
          <a:bodyPr>
            <a:normAutofit/>
          </a:bodyPr>
          <a:lstStyle/>
          <a:p>
            <a:pPr marL="0" indent="0">
              <a:buNone/>
            </a:pPr>
            <a:r>
              <a:rPr lang="en-US" sz="2600" b="1" dirty="0">
                <a:solidFill>
                  <a:srgbClr val="FFFF00"/>
                </a:solidFill>
              </a:rPr>
              <a:t>A. Smart Matching System:</a:t>
            </a:r>
          </a:p>
          <a:p>
            <a:pPr marL="457200" indent="-457200">
              <a:buAutoNum type="arabicPeriod"/>
            </a:pPr>
            <a:r>
              <a:rPr lang="en-US" b="1" dirty="0">
                <a:solidFill>
                  <a:srgbClr val="FFFF00"/>
                </a:solidFill>
              </a:rPr>
              <a:t>Value-Add:</a:t>
            </a:r>
            <a:r>
              <a:rPr lang="en-US" dirty="0"/>
              <a:t> </a:t>
            </a:r>
          </a:p>
          <a:p>
            <a:r>
              <a:rPr lang="en-US" sz="1700" dirty="0"/>
              <a:t>Matches surplus with recipient needs instantly</a:t>
            </a:r>
          </a:p>
          <a:p>
            <a:r>
              <a:rPr lang="en-US" sz="1700" dirty="0"/>
              <a:t>Reduces delays and ensures optimal resource allocation</a:t>
            </a:r>
          </a:p>
          <a:p>
            <a:pPr marL="0" indent="0">
              <a:buNone/>
            </a:pPr>
            <a:r>
              <a:rPr lang="en-US" sz="2600" b="1" dirty="0">
                <a:solidFill>
                  <a:srgbClr val="FFFF00"/>
                </a:solidFill>
              </a:rPr>
              <a:t>Real-time Notifications:</a:t>
            </a:r>
          </a:p>
          <a:p>
            <a:pPr marL="0" indent="0">
              <a:buNone/>
            </a:pPr>
            <a:r>
              <a:rPr lang="en-US" b="1" dirty="0">
                <a:solidFill>
                  <a:srgbClr val="FFFF00"/>
                </a:solidFill>
              </a:rPr>
              <a:t>2.</a:t>
            </a:r>
            <a:r>
              <a:rPr lang="en-US" dirty="0"/>
              <a:t> </a:t>
            </a:r>
            <a:r>
              <a:rPr lang="en-US" b="1" dirty="0">
                <a:solidFill>
                  <a:srgbClr val="FFFF00"/>
                </a:solidFill>
              </a:rPr>
              <a:t>Value-Add: </a:t>
            </a:r>
          </a:p>
          <a:p>
            <a:r>
              <a:rPr lang="en-US" sz="1700" dirty="0"/>
              <a:t>Enables fast responses via email, SMS, and push alerts</a:t>
            </a:r>
          </a:p>
          <a:p>
            <a:r>
              <a:rPr lang="en-US" sz="1700" dirty="0"/>
              <a:t>Minimizes spoilage through timely pickups</a:t>
            </a:r>
          </a:p>
          <a:p>
            <a:pPr marL="0" indent="0">
              <a:buNone/>
            </a:pPr>
            <a:r>
              <a:rPr lang="en-US" sz="2600" b="1" dirty="0">
                <a:solidFill>
                  <a:srgbClr val="FFFF00"/>
                </a:solidFill>
              </a:rPr>
              <a:t>Inventory Tracking and Reporting:</a:t>
            </a:r>
          </a:p>
          <a:p>
            <a:pPr marL="0" indent="0">
              <a:buNone/>
            </a:pPr>
            <a:r>
              <a:rPr lang="en-US" b="1" dirty="0">
                <a:solidFill>
                  <a:srgbClr val="FFFF00"/>
                </a:solidFill>
              </a:rPr>
              <a:t>3. Value-Add:</a:t>
            </a:r>
            <a:endParaRPr lang="en-US" dirty="0"/>
          </a:p>
          <a:p>
            <a:r>
              <a:rPr lang="en-US" sz="1700" dirty="0"/>
              <a:t>Keeps accurate records of donations and current stock</a:t>
            </a:r>
          </a:p>
          <a:p>
            <a:r>
              <a:rPr lang="en-US" sz="1700" dirty="0"/>
              <a:t>Enhances transparency and helps plan future redistribution</a:t>
            </a:r>
          </a:p>
        </p:txBody>
      </p:sp>
    </p:spTree>
    <p:extLst>
      <p:ext uri="{BB962C8B-B14F-4D97-AF65-F5344CB8AC3E}">
        <p14:creationId xmlns:p14="http://schemas.microsoft.com/office/powerpoint/2010/main" val="19643303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756418" y="493904"/>
            <a:ext cx="9404723" cy="646617"/>
          </a:xfrm>
        </p:spPr>
        <p:txBody>
          <a:bodyPr>
            <a:normAutofit fontScale="90000"/>
          </a:bodyPr>
          <a:lstStyle/>
          <a:p>
            <a:r>
              <a:rPr lang="en-US" b="1" dirty="0">
                <a:solidFill>
                  <a:srgbClr val="FFFF00"/>
                </a:solidFill>
                <a:latin typeface="Bahnschrift" panose="020B0502040204020203" pitchFamily="34" charset="0"/>
              </a:rPr>
              <a:t>Goals</a:t>
            </a:r>
            <a:br>
              <a:rPr lang="en-US" b="1" dirty="0">
                <a:solidFill>
                  <a:srgbClr val="FFFF00"/>
                </a:solidFill>
                <a:latin typeface="Bahnschrift" panose="020B0502040204020203" pitchFamily="34" charset="0"/>
              </a:rPr>
            </a:br>
            <a:endParaRPr lang="en-IN" b="1" dirty="0">
              <a:solidFill>
                <a:srgbClr val="FFFF00"/>
              </a:solidFill>
              <a:latin typeface="Bahnschrift" panose="020B0502040204020203" pitchFamily="34" charset="0"/>
            </a:endParaRPr>
          </a:p>
        </p:txBody>
      </p:sp>
      <p:sp>
        <p:nvSpPr>
          <p:cNvPr id="6" name="Content Placeholder 5"/>
          <p:cNvSpPr>
            <a:spLocks noGrp="1"/>
          </p:cNvSpPr>
          <p:nvPr>
            <p:ph idx="1"/>
          </p:nvPr>
        </p:nvSpPr>
        <p:spPr>
          <a:xfrm>
            <a:off x="421240" y="1202076"/>
            <a:ext cx="10933697" cy="5185076"/>
          </a:xfrm>
        </p:spPr>
        <p:txBody>
          <a:bodyPr/>
          <a:lstStyle/>
          <a:p>
            <a:pPr marL="0" indent="0">
              <a:buNone/>
            </a:pPr>
            <a:r>
              <a:rPr lang="en-US" b="1" dirty="0">
                <a:solidFill>
                  <a:srgbClr val="FFFF00"/>
                </a:solidFill>
                <a:latin typeface="Bahnschrift" panose="020B0502040204020203" pitchFamily="34" charset="0"/>
              </a:rPr>
              <a:t>    </a:t>
            </a:r>
          </a:p>
          <a:p>
            <a:pPr marL="0" indent="0">
              <a:buNone/>
            </a:pPr>
            <a:r>
              <a:rPr lang="en-US" b="1" dirty="0">
                <a:solidFill>
                  <a:srgbClr val="FFFF00"/>
                </a:solidFill>
                <a:latin typeface="Bahnschrift" panose="020B0502040204020203" pitchFamily="34" charset="0"/>
              </a:rPr>
              <a:t> Efficient Redistribution:</a:t>
            </a:r>
          </a:p>
          <a:p>
            <a:pPr>
              <a:buFont typeface="Arial" panose="020B0604020202020204" pitchFamily="34" charset="0"/>
              <a:buChar char="•"/>
            </a:pPr>
            <a:r>
              <a:rPr lang="en-US" sz="1600" dirty="0">
                <a:latin typeface="Bahnschrift" panose="020B0502040204020203" pitchFamily="34" charset="0"/>
              </a:rPr>
              <a:t>Eliminate Food Waste.</a:t>
            </a:r>
          </a:p>
          <a:p>
            <a:pPr>
              <a:buFont typeface="Arial" panose="020B0604020202020204" pitchFamily="34" charset="0"/>
              <a:buChar char="•"/>
            </a:pPr>
            <a:r>
              <a:rPr lang="en-US" sz="1600" dirty="0">
                <a:latin typeface="Bahnschrift" panose="020B0502040204020203" pitchFamily="34" charset="0"/>
              </a:rPr>
              <a:t>Enable timely pickups.</a:t>
            </a:r>
          </a:p>
          <a:p>
            <a:pPr>
              <a:buFont typeface="Arial" panose="020B0604020202020204" pitchFamily="34" charset="0"/>
              <a:buChar char="•"/>
            </a:pPr>
            <a:r>
              <a:rPr lang="en-US" sz="1600" dirty="0">
                <a:latin typeface="Bahnschrift" panose="020B0502040204020203" pitchFamily="34" charset="0"/>
              </a:rPr>
              <a:t>Reduce manual coordination.</a:t>
            </a:r>
            <a:endParaRPr lang="en-IN" sz="1600" dirty="0">
              <a:latin typeface="Bahnschrift" panose="020B0502040204020203" pitchFamily="34" charset="0"/>
            </a:endParaRPr>
          </a:p>
        </p:txBody>
      </p:sp>
      <p:sp>
        <p:nvSpPr>
          <p:cNvPr id="7" name="Rectangle 6"/>
          <p:cNvSpPr/>
          <p:nvPr/>
        </p:nvSpPr>
        <p:spPr>
          <a:xfrm>
            <a:off x="6314987" y="1526287"/>
            <a:ext cx="5455773" cy="1384995"/>
          </a:xfrm>
          <a:prstGeom prst="rect">
            <a:avLst/>
          </a:prstGeom>
        </p:spPr>
        <p:txBody>
          <a:bodyPr wrap="square">
            <a:spAutoFit/>
          </a:bodyPr>
          <a:lstStyle/>
          <a:p>
            <a:r>
              <a:rPr lang="en-IN" sz="2000" b="1" dirty="0">
                <a:solidFill>
                  <a:srgbClr val="FFFF00"/>
                </a:solidFill>
                <a:latin typeface="Bahnschrift" panose="020B0502040204020203" pitchFamily="34" charset="0"/>
              </a:rPr>
              <a:t>Operational Streamlining:</a:t>
            </a:r>
          </a:p>
          <a:p>
            <a:pPr marL="285750" indent="-285750">
              <a:buFont typeface="Arial" panose="020B0604020202020204" pitchFamily="34" charset="0"/>
              <a:buChar char="•"/>
            </a:pPr>
            <a:r>
              <a:rPr lang="en-IN" sz="1600" dirty="0">
                <a:latin typeface="Bahnschrift" panose="020B0502040204020203" pitchFamily="34" charset="0"/>
              </a:rPr>
              <a:t>Centralize all surplus posting and tracking in one platform.</a:t>
            </a:r>
          </a:p>
          <a:p>
            <a:pPr marL="285750" indent="-285750">
              <a:buFont typeface="Arial" panose="020B0604020202020204" pitchFamily="34" charset="0"/>
              <a:buChar char="•"/>
            </a:pPr>
            <a:endParaRPr lang="en-IN" sz="1600" dirty="0">
              <a:latin typeface="Bahnschrift" panose="020B0502040204020203" pitchFamily="34" charset="0"/>
            </a:endParaRPr>
          </a:p>
          <a:p>
            <a:pPr marL="285750" indent="-285750">
              <a:buFont typeface="Arial" panose="020B0604020202020204" pitchFamily="34" charset="0"/>
              <a:buChar char="•"/>
            </a:pPr>
            <a:r>
              <a:rPr lang="en-IN" sz="1600" dirty="0">
                <a:latin typeface="Bahnschrift" panose="020B0502040204020203" pitchFamily="34" charset="0"/>
              </a:rPr>
              <a:t>Automate donor and recipient communication.</a:t>
            </a:r>
          </a:p>
        </p:txBody>
      </p:sp>
      <p:sp>
        <p:nvSpPr>
          <p:cNvPr id="8" name="Rectangle 7"/>
          <p:cNvSpPr/>
          <p:nvPr/>
        </p:nvSpPr>
        <p:spPr>
          <a:xfrm>
            <a:off x="6314986" y="3634557"/>
            <a:ext cx="5455774" cy="1877437"/>
          </a:xfrm>
          <a:prstGeom prst="rect">
            <a:avLst/>
          </a:prstGeom>
        </p:spPr>
        <p:txBody>
          <a:bodyPr wrap="square">
            <a:spAutoFit/>
          </a:bodyPr>
          <a:lstStyle/>
          <a:p>
            <a:r>
              <a:rPr lang="en-IN" sz="2000" b="1" dirty="0">
                <a:solidFill>
                  <a:srgbClr val="FFFF00"/>
                </a:solidFill>
                <a:latin typeface="Bahnschrift" panose="020B0502040204020203" pitchFamily="34" charset="0"/>
              </a:rPr>
              <a:t>Data-Driven Impact:</a:t>
            </a:r>
          </a:p>
          <a:p>
            <a:pPr marL="285750" indent="-285750">
              <a:buFont typeface="Arial" panose="020B0604020202020204" pitchFamily="34" charset="0"/>
              <a:buChar char="•"/>
            </a:pPr>
            <a:r>
              <a:rPr lang="en-US" sz="1600" dirty="0">
                <a:latin typeface="Bahnschrift" panose="020B0502040204020203" pitchFamily="34" charset="0"/>
              </a:rPr>
              <a:t>Generate real-time reports on donations and pickups</a:t>
            </a:r>
          </a:p>
          <a:p>
            <a:pPr marL="285750" indent="-285750">
              <a:buFont typeface="Arial" panose="020B0604020202020204" pitchFamily="34" charset="0"/>
              <a:buChar char="•"/>
            </a:pPr>
            <a:endParaRPr lang="en-US" sz="1600" dirty="0">
              <a:latin typeface="Bahnschrift" panose="020B0502040204020203" pitchFamily="34" charset="0"/>
            </a:endParaRPr>
          </a:p>
          <a:p>
            <a:pPr marL="285750" indent="-285750">
              <a:buFont typeface="Arial" panose="020B0604020202020204" pitchFamily="34" charset="0"/>
              <a:buChar char="•"/>
            </a:pPr>
            <a:r>
              <a:rPr lang="en-US" sz="1600" dirty="0">
                <a:latin typeface="Bahnschrift" panose="020B0502040204020203" pitchFamily="34" charset="0"/>
              </a:rPr>
              <a:t>Use AI analytics to improve surplus matching accuracy</a:t>
            </a:r>
          </a:p>
          <a:p>
            <a:pPr marL="285750" indent="-285750">
              <a:buFont typeface="Arial" panose="020B0604020202020204" pitchFamily="34" charset="0"/>
              <a:buChar char="•"/>
            </a:pPr>
            <a:endParaRPr lang="en-US" sz="1600" dirty="0">
              <a:latin typeface="Bahnschrift" panose="020B0502040204020203" pitchFamily="34" charset="0"/>
            </a:endParaRPr>
          </a:p>
          <a:p>
            <a:pPr marL="285750" indent="-285750">
              <a:buFont typeface="Arial" panose="020B0604020202020204" pitchFamily="34" charset="0"/>
              <a:buChar char="•"/>
            </a:pPr>
            <a:r>
              <a:rPr lang="en-US" sz="1600" dirty="0">
                <a:latin typeface="Bahnschrift" panose="020B0502040204020203" pitchFamily="34" charset="0"/>
              </a:rPr>
              <a:t>Help NGOs forecast food availability and plan resources</a:t>
            </a:r>
            <a:endParaRPr lang="en-IN" sz="1600" dirty="0">
              <a:latin typeface="Bahnschrift" panose="020B0502040204020203" pitchFamily="34" charset="0"/>
            </a:endParaRPr>
          </a:p>
        </p:txBody>
      </p:sp>
      <p:sp>
        <p:nvSpPr>
          <p:cNvPr id="9" name="Rectangle 8"/>
          <p:cNvSpPr/>
          <p:nvPr/>
        </p:nvSpPr>
        <p:spPr>
          <a:xfrm>
            <a:off x="328773" y="3784736"/>
            <a:ext cx="5548243" cy="1631216"/>
          </a:xfrm>
          <a:prstGeom prst="rect">
            <a:avLst/>
          </a:prstGeom>
        </p:spPr>
        <p:txBody>
          <a:bodyPr wrap="square">
            <a:spAutoFit/>
          </a:bodyPr>
          <a:lstStyle/>
          <a:p>
            <a:r>
              <a:rPr lang="en-IN" sz="2000" b="1" dirty="0">
                <a:solidFill>
                  <a:srgbClr val="FFFF00"/>
                </a:solidFill>
                <a:latin typeface="Bahnschrift" panose="020B0502040204020203" pitchFamily="34" charset="0"/>
              </a:rPr>
              <a:t>    Value for communities:</a:t>
            </a:r>
          </a:p>
          <a:p>
            <a:pPr marL="285750" indent="-285750">
              <a:buFont typeface="Arial" panose="020B0604020202020204" pitchFamily="34" charset="0"/>
              <a:buChar char="•"/>
            </a:pPr>
            <a:r>
              <a:rPr lang="en-US" sz="1600" dirty="0">
                <a:latin typeface="Bahnschrift" panose="020B0502040204020203" pitchFamily="34" charset="0"/>
              </a:rPr>
              <a:t>Ensure food reaches shelters and charities on time</a:t>
            </a:r>
          </a:p>
          <a:p>
            <a:pPr marL="285750" indent="-285750">
              <a:buFont typeface="Arial" panose="020B0604020202020204" pitchFamily="34" charset="0"/>
              <a:buChar char="•"/>
            </a:pPr>
            <a:endParaRPr lang="en-US" sz="1600" dirty="0">
              <a:latin typeface="Bahnschrift" panose="020B0502040204020203" pitchFamily="34" charset="0"/>
            </a:endParaRPr>
          </a:p>
          <a:p>
            <a:pPr marL="285750" indent="-285750">
              <a:buFont typeface="Arial" panose="020B0604020202020204" pitchFamily="34" charset="0"/>
              <a:buChar char="•"/>
            </a:pPr>
            <a:r>
              <a:rPr lang="en-US" sz="1600" dirty="0">
                <a:latin typeface="Bahnschrift" panose="020B0502040204020203" pitchFamily="34" charset="0"/>
              </a:rPr>
              <a:t>Improve transparency and accountability in donations</a:t>
            </a:r>
          </a:p>
          <a:p>
            <a:pPr marL="285750" indent="-285750">
              <a:buFont typeface="Arial" panose="020B0604020202020204" pitchFamily="34" charset="0"/>
              <a:buChar char="•"/>
            </a:pPr>
            <a:endParaRPr lang="en-US" sz="1600" dirty="0">
              <a:latin typeface="Bahnschrift" panose="020B0502040204020203" pitchFamily="34" charset="0"/>
            </a:endParaRPr>
          </a:p>
          <a:p>
            <a:pPr marL="285750" indent="-285750">
              <a:buFont typeface="Arial" panose="020B0604020202020204" pitchFamily="34" charset="0"/>
              <a:buChar char="•"/>
            </a:pPr>
            <a:r>
              <a:rPr lang="en-US" sz="1600" dirty="0">
                <a:latin typeface="Bahnschrift" panose="020B0502040204020203" pitchFamily="34" charset="0"/>
              </a:rPr>
              <a:t>Support sustainability and social welfare goals</a:t>
            </a:r>
            <a:endParaRPr lang="en-IN" sz="1600" dirty="0">
              <a:latin typeface="Bahnschrift" panose="020B0502040204020203" pitchFamily="34" charset="0"/>
            </a:endParaRPr>
          </a:p>
        </p:txBody>
      </p:sp>
    </p:spTree>
    <p:extLst>
      <p:ext uri="{BB962C8B-B14F-4D97-AF65-F5344CB8AC3E}">
        <p14:creationId xmlns:p14="http://schemas.microsoft.com/office/powerpoint/2010/main" val="33404485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7207" y="370525"/>
            <a:ext cx="9404723" cy="790455"/>
          </a:xfrm>
        </p:spPr>
        <p:txBody>
          <a:bodyPr/>
          <a:lstStyle/>
          <a:p>
            <a:pPr algn="ctr"/>
            <a:r>
              <a:rPr lang="en-US" sz="2800" b="1" dirty="0">
                <a:solidFill>
                  <a:srgbClr val="FFFF00"/>
                </a:solidFill>
                <a:latin typeface="Bahnschrift" panose="020B0502040204020203" pitchFamily="34" charset="0"/>
              </a:rPr>
              <a:t>Three Alternatives for New System:</a:t>
            </a:r>
            <a:endParaRPr lang="en-IN" sz="2800" dirty="0">
              <a:solidFill>
                <a:srgbClr val="FFFF00"/>
              </a:solidFill>
              <a:latin typeface="Bahnschrift" panose="020B0502040204020203" pitchFamily="34" charset="0"/>
            </a:endParaRPr>
          </a:p>
        </p:txBody>
      </p:sp>
      <p:sp>
        <p:nvSpPr>
          <p:cNvPr id="3" name="Content Placeholder 2"/>
          <p:cNvSpPr>
            <a:spLocks noGrp="1"/>
          </p:cNvSpPr>
          <p:nvPr>
            <p:ph idx="1"/>
          </p:nvPr>
        </p:nvSpPr>
        <p:spPr>
          <a:xfrm>
            <a:off x="431517" y="986320"/>
            <a:ext cx="11571094" cy="5565814"/>
          </a:xfrm>
        </p:spPr>
        <p:txBody>
          <a:bodyPr/>
          <a:lstStyle/>
          <a:p>
            <a:pPr marL="0" indent="0">
              <a:buNone/>
            </a:pPr>
            <a:r>
              <a:rPr lang="en-US" b="1" dirty="0">
                <a:solidFill>
                  <a:srgbClr val="FFFF00"/>
                </a:solidFill>
                <a:latin typeface="Bahnschrift" panose="020B0502040204020203" pitchFamily="34" charset="0"/>
              </a:rPr>
              <a:t>1. Event-Based Communication Platform:</a:t>
            </a:r>
            <a:endParaRPr lang="en-US" dirty="0">
              <a:latin typeface="Bahnschrift" panose="020B0502040204020203" pitchFamily="34" charset="0"/>
            </a:endParaRPr>
          </a:p>
          <a:p>
            <a:pPr algn="just">
              <a:buFont typeface="Arial" panose="020B0604020202020204" pitchFamily="34" charset="0"/>
              <a:buChar char="•"/>
            </a:pPr>
            <a:r>
              <a:rPr lang="en-US" sz="1600" dirty="0">
                <a:latin typeface="Bahnschrift" panose="020B0502040204020203" pitchFamily="34" charset="0"/>
              </a:rPr>
              <a:t>Build a centralized system for posting and managing leftover donations</a:t>
            </a:r>
          </a:p>
          <a:p>
            <a:pPr algn="just">
              <a:buFont typeface="Arial" panose="020B0604020202020204" pitchFamily="34" charset="0"/>
              <a:buChar char="•"/>
            </a:pPr>
            <a:r>
              <a:rPr lang="en-US" sz="1600" dirty="0">
                <a:latin typeface="Bahnschrift" panose="020B0502040204020203" pitchFamily="34" charset="0"/>
              </a:rPr>
              <a:t>Auto-notify registered NGOs based on donation type and location</a:t>
            </a:r>
          </a:p>
          <a:p>
            <a:pPr algn="just">
              <a:buFont typeface="Arial" panose="020B0604020202020204" pitchFamily="34" charset="0"/>
              <a:buChar char="•"/>
            </a:pPr>
            <a:r>
              <a:rPr lang="en-US" sz="1600" dirty="0">
                <a:latin typeface="Bahnschrift" panose="020B0502040204020203" pitchFamily="34" charset="0"/>
              </a:rPr>
              <a:t>Track pickup confirmations and generate reports</a:t>
            </a:r>
          </a:p>
          <a:p>
            <a:pPr marL="0" indent="0" algn="just">
              <a:buNone/>
            </a:pPr>
            <a:endParaRPr lang="en-IN" sz="1600" dirty="0">
              <a:latin typeface="Bahnschrift" panose="020B0502040204020203" pitchFamily="34" charset="0"/>
            </a:endParaRPr>
          </a:p>
        </p:txBody>
      </p:sp>
      <p:sp>
        <p:nvSpPr>
          <p:cNvPr id="4" name="Rectangle 3"/>
          <p:cNvSpPr/>
          <p:nvPr/>
        </p:nvSpPr>
        <p:spPr>
          <a:xfrm>
            <a:off x="431516" y="2619910"/>
            <a:ext cx="9452223" cy="1877437"/>
          </a:xfrm>
          <a:prstGeom prst="rect">
            <a:avLst/>
          </a:prstGeom>
        </p:spPr>
        <p:txBody>
          <a:bodyPr wrap="square">
            <a:spAutoFit/>
          </a:bodyPr>
          <a:lstStyle/>
          <a:p>
            <a:r>
              <a:rPr lang="en-US" b="1" dirty="0">
                <a:solidFill>
                  <a:srgbClr val="FFFF00"/>
                </a:solidFill>
                <a:latin typeface="Bahnschrift" panose="020B0502040204020203" pitchFamily="34" charset="0"/>
              </a:rPr>
              <a:t>2. AI Powered Matching Engine:</a:t>
            </a:r>
            <a:endParaRPr lang="en-US" b="1" i="0" dirty="0">
              <a:solidFill>
                <a:srgbClr val="FFFF00"/>
              </a:solidFill>
              <a:effectLst/>
              <a:latin typeface="Bahnschrift" panose="020B0502040204020203" pitchFamily="34" charset="0"/>
            </a:endParaRPr>
          </a:p>
          <a:p>
            <a:pPr marL="285750" indent="-285750">
              <a:buFont typeface="Arial" panose="020B0604020202020204" pitchFamily="34" charset="0"/>
              <a:buChar char="•"/>
            </a:pPr>
            <a:endParaRPr lang="en-US" b="1" i="0" dirty="0">
              <a:solidFill>
                <a:srgbClr val="FFFF00"/>
              </a:solidFill>
              <a:effectLst/>
              <a:latin typeface="Bahnschrift" panose="020B0502040204020203" pitchFamily="34" charset="0"/>
            </a:endParaRPr>
          </a:p>
          <a:p>
            <a:pPr marL="285750" indent="-285750">
              <a:buFont typeface="Arial" panose="020B0604020202020204" pitchFamily="34" charset="0"/>
              <a:buChar char="•"/>
            </a:pPr>
            <a:r>
              <a:rPr lang="en-US" sz="1600" b="0" i="0" dirty="0">
                <a:effectLst/>
                <a:latin typeface="Bahnschrift" panose="020B0502040204020203" pitchFamily="34" charset="0"/>
              </a:rPr>
              <a:t>Use AI to match donations to recipient organizations</a:t>
            </a:r>
          </a:p>
          <a:p>
            <a:pPr marL="285750" indent="-285750">
              <a:buFont typeface="Arial" panose="020B0604020202020204" pitchFamily="34" charset="0"/>
              <a:buChar char="•"/>
            </a:pPr>
            <a:endParaRPr lang="en-US" sz="1600" b="0" i="0" dirty="0">
              <a:effectLst/>
              <a:latin typeface="Bahnschrift" panose="020B0502040204020203" pitchFamily="34" charset="0"/>
            </a:endParaRPr>
          </a:p>
          <a:p>
            <a:pPr marL="285750" indent="-285750">
              <a:buFont typeface="Arial" panose="020B0604020202020204" pitchFamily="34" charset="0"/>
              <a:buChar char="•"/>
            </a:pPr>
            <a:r>
              <a:rPr lang="en-US" sz="1600" b="0" i="0" dirty="0">
                <a:effectLst/>
                <a:latin typeface="Bahnschrift" panose="020B0502040204020203" pitchFamily="34" charset="0"/>
              </a:rPr>
              <a:t>Prioritize based on urgency, location, and recipient history</a:t>
            </a:r>
          </a:p>
          <a:p>
            <a:pPr marL="285750" indent="-285750">
              <a:buFont typeface="Arial" panose="020B0604020202020204" pitchFamily="34" charset="0"/>
              <a:buChar char="•"/>
            </a:pPr>
            <a:endParaRPr lang="en-US" sz="1600" b="0" i="0" dirty="0">
              <a:effectLst/>
              <a:latin typeface="Bahnschrift" panose="020B0502040204020203" pitchFamily="34" charset="0"/>
            </a:endParaRPr>
          </a:p>
          <a:p>
            <a:pPr marL="285750" indent="-285750">
              <a:buFont typeface="Arial" panose="020B0604020202020204" pitchFamily="34" charset="0"/>
              <a:buChar char="•"/>
            </a:pPr>
            <a:r>
              <a:rPr lang="en-US" sz="1600" b="0" i="0" dirty="0">
                <a:effectLst/>
                <a:latin typeface="Bahnschrift" panose="020B0502040204020203" pitchFamily="34" charset="0"/>
              </a:rPr>
              <a:t>Continuously learn from past matches for smarter future allocation</a:t>
            </a:r>
          </a:p>
        </p:txBody>
      </p:sp>
      <p:sp>
        <p:nvSpPr>
          <p:cNvPr id="5" name="Rectangle 4"/>
          <p:cNvSpPr/>
          <p:nvPr/>
        </p:nvSpPr>
        <p:spPr>
          <a:xfrm>
            <a:off x="431516" y="4643919"/>
            <a:ext cx="10496896" cy="2339102"/>
          </a:xfrm>
          <a:prstGeom prst="rect">
            <a:avLst/>
          </a:prstGeom>
        </p:spPr>
        <p:txBody>
          <a:bodyPr wrap="square">
            <a:spAutoFit/>
          </a:bodyPr>
          <a:lstStyle/>
          <a:p>
            <a:r>
              <a:rPr lang="en-US" b="1" dirty="0">
                <a:solidFill>
                  <a:srgbClr val="FFFF00"/>
                </a:solidFill>
                <a:latin typeface="Söhne"/>
              </a:rPr>
              <a:t>3. Light Weight Mobile App for Donors</a:t>
            </a:r>
            <a:r>
              <a:rPr lang="en-US" b="1" i="0" dirty="0">
                <a:solidFill>
                  <a:srgbClr val="FFFF00"/>
                </a:solidFill>
                <a:effectLst/>
                <a:latin typeface="Söhne"/>
              </a:rPr>
              <a:t>:</a:t>
            </a:r>
            <a:endParaRPr lang="en-US" b="1" dirty="0">
              <a:solidFill>
                <a:srgbClr val="FFFF00"/>
              </a:solidFill>
              <a:latin typeface="Söhne"/>
            </a:endParaRPr>
          </a:p>
          <a:p>
            <a:endParaRPr lang="en-US" sz="1600" dirty="0">
              <a:latin typeface="Bahnschrift" panose="020B0502040204020203" pitchFamily="34" charset="0"/>
            </a:endParaRPr>
          </a:p>
          <a:p>
            <a:pPr marL="285750" indent="-285750">
              <a:buFont typeface="Arial" panose="020B0604020202020204" pitchFamily="34" charset="0"/>
              <a:buChar char="•"/>
            </a:pPr>
            <a:r>
              <a:rPr lang="en-US" sz="1600" b="0" i="0" dirty="0">
                <a:effectLst/>
                <a:latin typeface="Bahnschrift" panose="020B0502040204020203" pitchFamily="34" charset="0"/>
              </a:rPr>
              <a:t>Allow event organizers to quickly report surplus via mobile</a:t>
            </a:r>
          </a:p>
          <a:p>
            <a:pPr marL="285750" indent="-285750">
              <a:buFont typeface="Arial" panose="020B0604020202020204" pitchFamily="34" charset="0"/>
              <a:buChar char="•"/>
            </a:pPr>
            <a:endParaRPr lang="en-US" sz="1600" b="0" i="0" dirty="0">
              <a:effectLst/>
              <a:latin typeface="Bahnschrift" panose="020B0502040204020203" pitchFamily="34" charset="0"/>
            </a:endParaRPr>
          </a:p>
          <a:p>
            <a:pPr marL="285750" indent="-285750">
              <a:buFont typeface="Arial" panose="020B0604020202020204" pitchFamily="34" charset="0"/>
              <a:buChar char="•"/>
            </a:pPr>
            <a:r>
              <a:rPr lang="en-US" sz="1600" b="0" i="0" dirty="0">
                <a:effectLst/>
                <a:latin typeface="Bahnschrift" panose="020B0502040204020203" pitchFamily="34" charset="0"/>
              </a:rPr>
              <a:t>Include photo uploads, pickup time windows, and quick match previews</a:t>
            </a:r>
          </a:p>
          <a:p>
            <a:pPr marL="285750" indent="-285750">
              <a:buFont typeface="Arial" panose="020B0604020202020204" pitchFamily="34" charset="0"/>
              <a:buChar char="•"/>
            </a:pPr>
            <a:endParaRPr lang="en-US" sz="1600" b="0" i="0" dirty="0">
              <a:effectLst/>
              <a:latin typeface="Bahnschrift" panose="020B0502040204020203" pitchFamily="34" charset="0"/>
            </a:endParaRPr>
          </a:p>
          <a:p>
            <a:pPr marL="285750" indent="-285750">
              <a:buFont typeface="Arial" panose="020B0604020202020204" pitchFamily="34" charset="0"/>
              <a:buChar char="•"/>
            </a:pPr>
            <a:r>
              <a:rPr lang="en-US" sz="1600" b="0" i="0" dirty="0">
                <a:effectLst/>
                <a:latin typeface="Bahnschrift" panose="020B0502040204020203" pitchFamily="34" charset="0"/>
              </a:rPr>
              <a:t>Reduce barriers to entry for occasional donors or smaller events</a:t>
            </a:r>
          </a:p>
          <a:p>
            <a:pPr marL="285750" indent="-285750">
              <a:buFont typeface="Arial" panose="020B0604020202020204" pitchFamily="34" charset="0"/>
              <a:buChar char="•"/>
            </a:pPr>
            <a:endParaRPr lang="en-US" sz="1600" b="0" i="0" dirty="0">
              <a:effectLst/>
              <a:latin typeface="Bahnschrift" panose="020B0502040204020203" pitchFamily="34" charset="0"/>
            </a:endParaRPr>
          </a:p>
          <a:p>
            <a:endParaRPr lang="en-US" sz="1600" b="0" i="0" dirty="0">
              <a:effectLst/>
              <a:latin typeface="Bahnschrift" panose="020B0502040204020203" pitchFamily="34" charset="0"/>
            </a:endParaRPr>
          </a:p>
        </p:txBody>
      </p:sp>
    </p:spTree>
    <p:extLst>
      <p:ext uri="{BB962C8B-B14F-4D97-AF65-F5344CB8AC3E}">
        <p14:creationId xmlns:p14="http://schemas.microsoft.com/office/powerpoint/2010/main" val="12032191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1999" y="360251"/>
            <a:ext cx="9404723" cy="790455"/>
          </a:xfrm>
        </p:spPr>
        <p:txBody>
          <a:bodyPr>
            <a:normAutofit/>
          </a:bodyPr>
          <a:lstStyle/>
          <a:p>
            <a:r>
              <a:rPr lang="en-IN" sz="3600" b="1" dirty="0">
                <a:solidFill>
                  <a:srgbClr val="FFFF00"/>
                </a:solidFill>
                <a:latin typeface="Bahnschrift" panose="020B0502040204020203" pitchFamily="34" charset="0"/>
              </a:rPr>
              <a:t>Feasibility Study:</a:t>
            </a:r>
            <a:endParaRPr lang="en-IN" sz="3600" dirty="0">
              <a:solidFill>
                <a:srgbClr val="FFFF00"/>
              </a:solidFill>
              <a:latin typeface="Bahnschrift" panose="020B0502040204020203" pitchFamily="34" charset="0"/>
            </a:endParaRPr>
          </a:p>
        </p:txBody>
      </p:sp>
      <p:sp>
        <p:nvSpPr>
          <p:cNvPr id="3" name="Content Placeholder 2"/>
          <p:cNvSpPr>
            <a:spLocks noGrp="1"/>
          </p:cNvSpPr>
          <p:nvPr>
            <p:ph idx="1"/>
          </p:nvPr>
        </p:nvSpPr>
        <p:spPr>
          <a:xfrm>
            <a:off x="349322" y="1243174"/>
            <a:ext cx="11435136" cy="5517222"/>
          </a:xfrm>
        </p:spPr>
        <p:txBody>
          <a:bodyPr>
            <a:normAutofit/>
          </a:bodyPr>
          <a:lstStyle/>
          <a:p>
            <a:pPr marL="0" indent="0">
              <a:buNone/>
            </a:pPr>
            <a:r>
              <a:rPr lang="en-IN" sz="2000" b="1" dirty="0">
                <a:solidFill>
                  <a:srgbClr val="FFFF00"/>
                </a:solidFill>
                <a:latin typeface="Bahnschrift" panose="020B0502040204020203" pitchFamily="34" charset="0"/>
              </a:rPr>
              <a:t>Technical Feasibility:</a:t>
            </a:r>
          </a:p>
          <a:p>
            <a:pPr>
              <a:buFont typeface="Arial" panose="020B0604020202020204" pitchFamily="34" charset="0"/>
              <a:buChar char="•"/>
            </a:pPr>
            <a:r>
              <a:rPr lang="en-US" sz="2000" dirty="0">
                <a:latin typeface="Bahnschrift" panose="020B0502040204020203" pitchFamily="34" charset="0"/>
              </a:rPr>
              <a:t>Assess cloud-based options like AWS for scalability and uptime.</a:t>
            </a:r>
          </a:p>
          <a:p>
            <a:pPr>
              <a:buFont typeface="Arial" panose="020B0604020202020204" pitchFamily="34" charset="0"/>
              <a:buChar char="•"/>
            </a:pPr>
            <a:r>
              <a:rPr lang="en-US" sz="2000" dirty="0">
                <a:latin typeface="Bahnschrift" panose="020B0502040204020203" pitchFamily="34" charset="0"/>
              </a:rPr>
              <a:t>Ensure compatibility with mobile platforms and third-party APIs like Google Maps.</a:t>
            </a:r>
          </a:p>
          <a:p>
            <a:pPr>
              <a:buFont typeface="Arial" panose="020B0604020202020204" pitchFamily="34" charset="0"/>
              <a:buChar char="•"/>
            </a:pPr>
            <a:r>
              <a:rPr lang="en-US" sz="2000" dirty="0">
                <a:latin typeface="Bahnschrift" panose="020B0502040204020203" pitchFamily="34" charset="0"/>
              </a:rPr>
              <a:t>Prioritize data security, notification reliability, and ease of integration.</a:t>
            </a:r>
          </a:p>
          <a:p>
            <a:pPr marL="0" indent="0">
              <a:buNone/>
            </a:pPr>
            <a:r>
              <a:rPr lang="en-US" sz="2000" b="1" dirty="0">
                <a:solidFill>
                  <a:srgbClr val="FFFF00"/>
                </a:solidFill>
                <a:latin typeface="Bahnschrift" panose="020B0502040204020203" pitchFamily="34" charset="0"/>
              </a:rPr>
              <a:t>Economic Feasibility:</a:t>
            </a:r>
          </a:p>
          <a:p>
            <a:pPr>
              <a:buFont typeface="Arial" panose="020B0604020202020204" pitchFamily="34" charset="0"/>
              <a:buChar char="•"/>
            </a:pPr>
            <a:r>
              <a:rPr lang="en-US" sz="2000" dirty="0">
                <a:latin typeface="Bahnschrift" panose="020B0502040204020203" pitchFamily="34" charset="0"/>
              </a:rPr>
              <a:t>Estimate cost of development, deployment, and maintenance.</a:t>
            </a:r>
          </a:p>
          <a:p>
            <a:pPr>
              <a:buFont typeface="Arial" panose="020B0604020202020204" pitchFamily="34" charset="0"/>
              <a:buChar char="•"/>
            </a:pPr>
            <a:r>
              <a:rPr lang="en-US" sz="2000" dirty="0">
                <a:latin typeface="Bahnschrift" panose="020B0502040204020203" pitchFamily="34" charset="0"/>
              </a:rPr>
              <a:t>Project potential cost savings from reduced food waste and improved coordination.</a:t>
            </a:r>
          </a:p>
          <a:p>
            <a:pPr>
              <a:buFont typeface="Arial" panose="020B0604020202020204" pitchFamily="34" charset="0"/>
              <a:buChar char="•"/>
            </a:pPr>
            <a:r>
              <a:rPr lang="en-US" sz="2000" dirty="0">
                <a:latin typeface="Bahnschrift" panose="020B0502040204020203" pitchFamily="34" charset="0"/>
              </a:rPr>
              <a:t>Evaluate return on investment through community impact and long-term efficiency.</a:t>
            </a:r>
          </a:p>
          <a:p>
            <a:pPr marL="0" indent="0">
              <a:buNone/>
            </a:pPr>
            <a:r>
              <a:rPr lang="en-US" sz="2000" b="1" dirty="0">
                <a:solidFill>
                  <a:srgbClr val="FFFF00"/>
                </a:solidFill>
                <a:latin typeface="Bahnschrift" panose="020B0502040204020203" pitchFamily="34" charset="0"/>
              </a:rPr>
              <a:t>Organizational Feasibility:</a:t>
            </a:r>
          </a:p>
          <a:p>
            <a:pPr>
              <a:buFont typeface="Arial" panose="020B0604020202020204" pitchFamily="34" charset="0"/>
              <a:buChar char="•"/>
            </a:pPr>
            <a:r>
              <a:rPr lang="en-US" sz="2000" dirty="0">
                <a:latin typeface="Bahnschrift" panose="020B0502040204020203" pitchFamily="34" charset="0"/>
              </a:rPr>
              <a:t>Analyze how easily event teams and NGOs can adopt the system.</a:t>
            </a:r>
          </a:p>
          <a:p>
            <a:pPr>
              <a:buFont typeface="Arial" panose="020B0604020202020204" pitchFamily="34" charset="0"/>
              <a:buChar char="•"/>
            </a:pPr>
            <a:r>
              <a:rPr lang="en-US" sz="2000" dirty="0">
                <a:latin typeface="Bahnschrift" panose="020B0502040204020203" pitchFamily="34" charset="0"/>
              </a:rPr>
              <a:t>Ensure minimal disruption to current donation workflows.</a:t>
            </a:r>
          </a:p>
          <a:p>
            <a:pPr>
              <a:buFont typeface="Arial" panose="020B0604020202020204" pitchFamily="34" charset="0"/>
              <a:buChar char="•"/>
            </a:pPr>
            <a:r>
              <a:rPr lang="en-US" sz="2000" dirty="0">
                <a:latin typeface="Bahnschrift" panose="020B0502040204020203" pitchFamily="34" charset="0"/>
              </a:rPr>
              <a:t>Foster a culture of tech-enabled sustainability and social good.</a:t>
            </a:r>
          </a:p>
          <a:p>
            <a:pPr marL="0" indent="0">
              <a:buNone/>
            </a:pPr>
            <a:endParaRPr lang="en-US" dirty="0">
              <a:latin typeface="Bahnschrift" panose="020B0502040204020203" pitchFamily="34" charset="0"/>
            </a:endParaRPr>
          </a:p>
          <a:p>
            <a:pPr marL="0" indent="0">
              <a:buNone/>
            </a:pPr>
            <a:endParaRPr lang="en-US" dirty="0">
              <a:latin typeface="Bahnschrift" panose="020B0502040204020203" pitchFamily="34" charset="0"/>
            </a:endParaRPr>
          </a:p>
          <a:p>
            <a:pPr marL="0" indent="0">
              <a:buNone/>
            </a:pPr>
            <a:endParaRPr lang="en-US" dirty="0">
              <a:latin typeface="Bahnschrift" panose="020B0502040204020203" pitchFamily="34" charset="0"/>
            </a:endParaRPr>
          </a:p>
          <a:p>
            <a:pPr marL="0" indent="0">
              <a:buNone/>
            </a:pPr>
            <a:endParaRPr lang="en-US" dirty="0">
              <a:latin typeface="Bahnschrift" panose="020B0502040204020203" pitchFamily="34" charset="0"/>
            </a:endParaRPr>
          </a:p>
          <a:p>
            <a:pPr marL="0" indent="0">
              <a:buNone/>
            </a:pPr>
            <a:endParaRPr lang="en-US" dirty="0">
              <a:latin typeface="Bahnschrift" panose="020B0502040204020203" pitchFamily="34" charset="0"/>
            </a:endParaRPr>
          </a:p>
        </p:txBody>
      </p:sp>
    </p:spTree>
    <p:extLst>
      <p:ext uri="{BB962C8B-B14F-4D97-AF65-F5344CB8AC3E}">
        <p14:creationId xmlns:p14="http://schemas.microsoft.com/office/powerpoint/2010/main" val="24584534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697988"/>
          </a:xfrm>
        </p:spPr>
        <p:txBody>
          <a:bodyPr>
            <a:normAutofit fontScale="90000"/>
          </a:bodyPr>
          <a:lstStyle/>
          <a:p>
            <a:r>
              <a:rPr lang="en-IN" sz="3600" b="1" dirty="0">
                <a:solidFill>
                  <a:srgbClr val="FFFF00"/>
                </a:solidFill>
                <a:latin typeface="Bahnschrift" panose="020B0502040204020203" pitchFamily="34" charset="0"/>
              </a:rPr>
              <a:t>3. Project Selection and Management </a:t>
            </a:r>
            <a:br>
              <a:rPr lang="en-IN" dirty="0"/>
            </a:br>
            <a:endParaRPr lang="en-IN" dirty="0"/>
          </a:p>
        </p:txBody>
      </p:sp>
      <p:sp>
        <p:nvSpPr>
          <p:cNvPr id="3" name="Content Placeholder 2"/>
          <p:cNvSpPr>
            <a:spLocks noGrp="1"/>
          </p:cNvSpPr>
          <p:nvPr>
            <p:ph idx="1"/>
          </p:nvPr>
        </p:nvSpPr>
        <p:spPr>
          <a:xfrm>
            <a:off x="297951" y="1325365"/>
            <a:ext cx="11322121" cy="5167901"/>
          </a:xfrm>
        </p:spPr>
        <p:txBody>
          <a:bodyPr>
            <a:normAutofit fontScale="92500" lnSpcReduction="20000"/>
          </a:bodyPr>
          <a:lstStyle/>
          <a:p>
            <a:pPr marL="0" indent="0">
              <a:buNone/>
            </a:pPr>
            <a:r>
              <a:rPr lang="en-US" sz="1800" b="1" dirty="0">
                <a:solidFill>
                  <a:srgbClr val="FFFF00"/>
                </a:solidFill>
                <a:latin typeface="Bahnschrift" panose="020B0502040204020203" pitchFamily="34" charset="0"/>
              </a:rPr>
              <a:t>Project Objective:</a:t>
            </a:r>
          </a:p>
          <a:p>
            <a:pPr>
              <a:buFont typeface="Arial" panose="020B0604020202020204" pitchFamily="34" charset="0"/>
              <a:buChar char="•"/>
            </a:pPr>
            <a:r>
              <a:rPr lang="en-US" sz="1700" dirty="0">
                <a:latin typeface="Bahnschrift" panose="020B0502040204020203" pitchFamily="34" charset="0"/>
              </a:rPr>
              <a:t>Build a smart donation-matching platform for redistributing event leftovers.</a:t>
            </a:r>
          </a:p>
          <a:p>
            <a:pPr>
              <a:buFont typeface="Arial" panose="020B0604020202020204" pitchFamily="34" charset="0"/>
              <a:buChar char="•"/>
            </a:pPr>
            <a:r>
              <a:rPr lang="en-US" sz="1700" dirty="0">
                <a:latin typeface="Bahnschrift" panose="020B0502040204020203" pitchFamily="34" charset="0"/>
              </a:rPr>
              <a:t>Reduce food waste and improve community support with real-time coordination.</a:t>
            </a:r>
          </a:p>
          <a:p>
            <a:pPr marL="0" indent="0">
              <a:buNone/>
            </a:pPr>
            <a:r>
              <a:rPr lang="en-US" sz="1800" b="1" dirty="0">
                <a:solidFill>
                  <a:srgbClr val="FFFF00"/>
                </a:solidFill>
                <a:latin typeface="Bahnschrift" panose="020B0502040204020203" pitchFamily="34" charset="0"/>
              </a:rPr>
              <a:t>Project Plan: Managing and Controlling</a:t>
            </a:r>
            <a:endParaRPr lang="en-US" sz="1800" dirty="0">
              <a:solidFill>
                <a:srgbClr val="FFFF00"/>
              </a:solidFill>
              <a:latin typeface="Bahnschrift" panose="020B0502040204020203" pitchFamily="34" charset="0"/>
            </a:endParaRPr>
          </a:p>
          <a:p>
            <a:pPr>
              <a:buFont typeface="Arial" panose="020B0604020202020204" pitchFamily="34" charset="0"/>
              <a:buChar char="•"/>
            </a:pPr>
            <a:r>
              <a:rPr lang="en-US" sz="1700" dirty="0">
                <a:latin typeface="Bahnschrift" panose="020B0502040204020203" pitchFamily="34" charset="0"/>
              </a:rPr>
              <a:t>Assign roles: project lead, frontend, backend devs, tester, and NGO coordinator.</a:t>
            </a:r>
          </a:p>
          <a:p>
            <a:pPr>
              <a:buFont typeface="Arial" panose="020B0604020202020204" pitchFamily="34" charset="0"/>
              <a:buChar char="•"/>
            </a:pPr>
            <a:r>
              <a:rPr lang="en-US" sz="1700" dirty="0">
                <a:latin typeface="Bahnschrift" panose="020B0502040204020203" pitchFamily="34" charset="0"/>
              </a:rPr>
              <a:t>Define responsibilities and review progress regularly for smooth execution.</a:t>
            </a:r>
            <a:endParaRPr lang="en-US" sz="1600" dirty="0">
              <a:latin typeface="Bahnschrift" panose="020B0502040204020203" pitchFamily="34" charset="0"/>
            </a:endParaRPr>
          </a:p>
          <a:p>
            <a:pPr>
              <a:buFont typeface="Arial" panose="020B0604020202020204" pitchFamily="34" charset="0"/>
              <a:buChar char="•"/>
            </a:pPr>
            <a:endParaRPr lang="en-US" sz="1600" dirty="0">
              <a:latin typeface="Bahnschrift" panose="020B0502040204020203" pitchFamily="34" charset="0"/>
            </a:endParaRPr>
          </a:p>
          <a:p>
            <a:pPr>
              <a:buFont typeface="Arial" panose="020B0604020202020204" pitchFamily="34" charset="0"/>
              <a:buChar char="•"/>
            </a:pPr>
            <a:endParaRPr lang="en-US" sz="1600" dirty="0">
              <a:latin typeface="Bahnschrift" panose="020B0502040204020203" pitchFamily="34" charset="0"/>
            </a:endParaRPr>
          </a:p>
          <a:p>
            <a:pPr>
              <a:buFont typeface="Arial" panose="020B0604020202020204" pitchFamily="34" charset="0"/>
              <a:buChar char="•"/>
            </a:pPr>
            <a:endParaRPr lang="en-US" sz="1600" dirty="0">
              <a:latin typeface="Bahnschrift" panose="020B0502040204020203" pitchFamily="34" charset="0"/>
            </a:endParaRPr>
          </a:p>
          <a:p>
            <a:pPr marL="0" indent="0">
              <a:buNone/>
            </a:pPr>
            <a:endParaRPr lang="en-US" sz="1800" b="1" dirty="0">
              <a:solidFill>
                <a:srgbClr val="FFFF00"/>
              </a:solidFill>
              <a:latin typeface="Bahnschrift" panose="020B0502040204020203" pitchFamily="34" charset="0"/>
            </a:endParaRPr>
          </a:p>
          <a:p>
            <a:pPr marL="0" indent="0">
              <a:buNone/>
            </a:pPr>
            <a:r>
              <a:rPr lang="en-US" sz="1800" b="1" dirty="0">
                <a:solidFill>
                  <a:srgbClr val="FFFF00"/>
                </a:solidFill>
                <a:latin typeface="Bahnschrift" panose="020B0502040204020203" pitchFamily="34" charset="0"/>
              </a:rPr>
              <a:t>Project Planning</a:t>
            </a:r>
          </a:p>
          <a:p>
            <a:pPr>
              <a:buFont typeface="Arial" panose="020B0604020202020204" pitchFamily="34" charset="0"/>
              <a:buChar char="•"/>
            </a:pPr>
            <a:r>
              <a:rPr lang="en-US" sz="1700" dirty="0">
                <a:latin typeface="Bahnschrift" panose="020B0502040204020203" pitchFamily="34" charset="0"/>
              </a:rPr>
              <a:t>Use WBS(Work Breakdown Structure) to break tasks: UI design, backend logic, notification system, testing.</a:t>
            </a:r>
          </a:p>
          <a:p>
            <a:pPr>
              <a:buFont typeface="Arial" panose="020B0604020202020204" pitchFamily="34" charset="0"/>
              <a:buChar char="•"/>
            </a:pPr>
            <a:r>
              <a:rPr lang="en-US" sz="1700" dirty="0">
                <a:latin typeface="Bahnschrift" panose="020B0502040204020203" pitchFamily="34" charset="0"/>
              </a:rPr>
              <a:t>Define deadlines and milestones for development, testing, and final delivery.</a:t>
            </a:r>
          </a:p>
          <a:p>
            <a:pPr marL="0" indent="0">
              <a:buNone/>
            </a:pPr>
            <a:r>
              <a:rPr lang="en-US" sz="1900" b="1" dirty="0">
                <a:solidFill>
                  <a:srgbClr val="FFFF00"/>
                </a:solidFill>
                <a:latin typeface="Bahnschrift" panose="020B0502040204020203" pitchFamily="34" charset="0"/>
              </a:rPr>
              <a:t>Communication Plan</a:t>
            </a:r>
          </a:p>
          <a:p>
            <a:pPr>
              <a:buFont typeface="Arial" panose="020B0604020202020204" pitchFamily="34" charset="0"/>
              <a:buChar char="•"/>
            </a:pPr>
            <a:r>
              <a:rPr lang="en-US" sz="1700" dirty="0">
                <a:latin typeface="Bahnschrift" panose="020B0502040204020203" pitchFamily="34" charset="0"/>
              </a:rPr>
              <a:t>Use Slack/WhatsApp + email for real-time team sync.</a:t>
            </a:r>
          </a:p>
          <a:p>
            <a:pPr>
              <a:buFont typeface="Arial" panose="020B0604020202020204" pitchFamily="34" charset="0"/>
              <a:buChar char="•"/>
            </a:pPr>
            <a:r>
              <a:rPr lang="en-US" sz="1700" dirty="0">
                <a:latin typeface="Bahnschrift" panose="020B0502040204020203" pitchFamily="34" charset="0"/>
              </a:rPr>
              <a:t>Weekly check-ins, sprint reviews, and feedback collection from NGOs and organizers.</a:t>
            </a:r>
          </a:p>
        </p:txBody>
      </p:sp>
      <p:sp>
        <p:nvSpPr>
          <p:cNvPr id="4" name="Rectangle 3"/>
          <p:cNvSpPr/>
          <p:nvPr/>
        </p:nvSpPr>
        <p:spPr>
          <a:xfrm>
            <a:off x="297951" y="3429000"/>
            <a:ext cx="10906861" cy="1107996"/>
          </a:xfrm>
          <a:prstGeom prst="rect">
            <a:avLst/>
          </a:prstGeom>
        </p:spPr>
        <p:txBody>
          <a:bodyPr wrap="square">
            <a:spAutoFit/>
          </a:bodyPr>
          <a:lstStyle/>
          <a:p>
            <a:r>
              <a:rPr lang="en-IN" b="1" dirty="0">
                <a:solidFill>
                  <a:srgbClr val="FFFF00"/>
                </a:solidFill>
              </a:rPr>
              <a:t>Project Scope and Objectives</a:t>
            </a:r>
          </a:p>
          <a:p>
            <a:pPr marL="285750" indent="-285750">
              <a:buFont typeface="Arial" panose="020B0604020202020204" pitchFamily="34" charset="0"/>
              <a:buChar char="•"/>
            </a:pPr>
            <a:r>
              <a:rPr lang="en-US" sz="1600" dirty="0">
                <a:latin typeface="Bahnschrift" panose="020B0502040204020203" pitchFamily="34" charset="0"/>
              </a:rPr>
              <a:t>Focus on automating food posting, notification, and inventory tracking.</a:t>
            </a:r>
          </a:p>
          <a:p>
            <a:pPr marL="285750" indent="-285750">
              <a:buFont typeface="Arial" panose="020B0604020202020204" pitchFamily="34" charset="0"/>
              <a:buChar char="•"/>
            </a:pPr>
            <a:r>
              <a:rPr lang="en-US" sz="1600" dirty="0">
                <a:latin typeface="Bahnschrift" panose="020B0502040204020203" pitchFamily="34" charset="0"/>
              </a:rPr>
              <a:t>Deliver measurable outcomes in reduced food waste and faster response times.</a:t>
            </a:r>
          </a:p>
          <a:p>
            <a:pPr marL="285750" indent="-285750">
              <a:buFont typeface="Arial" panose="020B0604020202020204" pitchFamily="34" charset="0"/>
              <a:buChar char="•"/>
            </a:pPr>
            <a:endParaRPr lang="en-US" sz="1600" dirty="0">
              <a:latin typeface="Bahnschrift" panose="020B0502040204020203" pitchFamily="34" charset="0"/>
            </a:endParaRPr>
          </a:p>
        </p:txBody>
      </p:sp>
    </p:spTree>
    <p:extLst>
      <p:ext uri="{BB962C8B-B14F-4D97-AF65-F5344CB8AC3E}">
        <p14:creationId xmlns:p14="http://schemas.microsoft.com/office/powerpoint/2010/main" val="17527288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0687" y="949749"/>
            <a:ext cx="12041313" cy="3046988"/>
          </a:xfrm>
          <a:prstGeom prst="rect">
            <a:avLst/>
          </a:prstGeom>
        </p:spPr>
        <p:txBody>
          <a:bodyPr wrap="square">
            <a:spAutoFit/>
          </a:bodyPr>
          <a:lstStyle/>
          <a:p>
            <a:r>
              <a:rPr lang="en-IN" sz="2000" b="1" dirty="0">
                <a:solidFill>
                  <a:srgbClr val="FFFF00"/>
                </a:solidFill>
                <a:latin typeface="Bahnschrift" panose="020B0502040204020203" pitchFamily="34" charset="0"/>
              </a:rPr>
              <a:t>Monitoring and Control</a:t>
            </a:r>
          </a:p>
          <a:p>
            <a:pPr marL="285750" indent="-285750">
              <a:buFont typeface="Arial" panose="020B0604020202020204" pitchFamily="34" charset="0"/>
              <a:buChar char="•"/>
            </a:pPr>
            <a:r>
              <a:rPr lang="en-US" sz="1600" dirty="0">
                <a:latin typeface="Bahnschrift" panose="020B0502040204020203" pitchFamily="34" charset="0"/>
              </a:rPr>
              <a:t>Monitor progress, manage issues, and control changes.</a:t>
            </a:r>
          </a:p>
          <a:p>
            <a:pPr marL="285750" indent="-285750">
              <a:buFont typeface="Arial" panose="020B0604020202020204" pitchFamily="34" charset="0"/>
              <a:buChar char="•"/>
            </a:pPr>
            <a:r>
              <a:rPr lang="en-US" sz="1600" dirty="0">
                <a:latin typeface="Bahnschrift" panose="020B0502040204020203" pitchFamily="34" charset="0"/>
              </a:rPr>
              <a:t>Ensure delivery quality through regular validations and testing.</a:t>
            </a:r>
          </a:p>
          <a:p>
            <a:endParaRPr lang="en-IN" sz="2000" dirty="0">
              <a:latin typeface="Bahnschrift" panose="020B0502040204020203" pitchFamily="34" charset="0"/>
            </a:endParaRPr>
          </a:p>
          <a:p>
            <a:r>
              <a:rPr lang="en-IN" sz="2000" b="1" dirty="0">
                <a:solidFill>
                  <a:srgbClr val="FFFF00"/>
                </a:solidFill>
                <a:latin typeface="Bahnschrift" panose="020B0502040204020203" pitchFamily="34" charset="0"/>
              </a:rPr>
              <a:t>Reporting Communication </a:t>
            </a:r>
          </a:p>
          <a:p>
            <a:pPr marL="285750" indent="-285750">
              <a:buFont typeface="Arial" panose="020B0604020202020204" pitchFamily="34" charset="0"/>
              <a:buChar char="•"/>
            </a:pPr>
            <a:r>
              <a:rPr lang="en-US" sz="1600" dirty="0">
                <a:latin typeface="Bahnschrift" panose="020B0502040204020203" pitchFamily="34" charset="0"/>
              </a:rPr>
              <a:t>Provide timely updates and progress reports.</a:t>
            </a:r>
          </a:p>
          <a:p>
            <a:pPr marL="285750" indent="-285750">
              <a:buFont typeface="Arial" panose="020B0604020202020204" pitchFamily="34" charset="0"/>
              <a:buChar char="•"/>
            </a:pPr>
            <a:r>
              <a:rPr lang="en-US" sz="1600" dirty="0">
                <a:latin typeface="Bahnschrift" panose="020B0502040204020203" pitchFamily="34" charset="0"/>
              </a:rPr>
              <a:t>Finalize documentation for milestones and outcomes.</a:t>
            </a:r>
          </a:p>
          <a:p>
            <a:pPr marL="285750" indent="-285750">
              <a:buFont typeface="Arial" panose="020B0604020202020204" pitchFamily="34" charset="0"/>
              <a:buChar char="•"/>
            </a:pPr>
            <a:endParaRPr lang="en-IN" sz="1600" dirty="0">
              <a:latin typeface="Bahnschrift" panose="020B0502040204020203" pitchFamily="34" charset="0"/>
            </a:endParaRPr>
          </a:p>
          <a:p>
            <a:r>
              <a:rPr lang="en-IN" sz="2000" b="1" dirty="0">
                <a:solidFill>
                  <a:srgbClr val="FFFF00"/>
                </a:solidFill>
                <a:latin typeface="Bahnschrift" panose="020B0502040204020203" pitchFamily="34" charset="0"/>
              </a:rPr>
              <a:t>Individual Assignments and Deadlines</a:t>
            </a:r>
          </a:p>
          <a:p>
            <a:pPr marL="285750" indent="-285750">
              <a:buFont typeface="Arial" panose="020B0604020202020204" pitchFamily="34" charset="0"/>
              <a:buChar char="•"/>
            </a:pPr>
            <a:r>
              <a:rPr lang="en-US" sz="1600" dirty="0">
                <a:latin typeface="Bahnschrift" panose="020B0502040204020203" pitchFamily="34" charset="0"/>
              </a:rPr>
              <a:t>Assign responsibilities for development, testing, and presentation.</a:t>
            </a:r>
          </a:p>
          <a:p>
            <a:pPr marL="285750" indent="-285750">
              <a:buFont typeface="Arial" panose="020B0604020202020204" pitchFamily="34" charset="0"/>
              <a:buChar char="•"/>
            </a:pPr>
            <a:r>
              <a:rPr lang="en-US" sz="1600" dirty="0">
                <a:latin typeface="Bahnschrift" panose="020B0502040204020203" pitchFamily="34" charset="0"/>
              </a:rPr>
              <a:t>Track all due dates using WBS and milestone chart.</a:t>
            </a:r>
          </a:p>
        </p:txBody>
      </p:sp>
      <p:sp>
        <p:nvSpPr>
          <p:cNvPr id="5" name="Rectangle 4"/>
          <p:cNvSpPr/>
          <p:nvPr/>
        </p:nvSpPr>
        <p:spPr>
          <a:xfrm>
            <a:off x="71919" y="4058292"/>
            <a:ext cx="10798139" cy="1938992"/>
          </a:xfrm>
          <a:prstGeom prst="rect">
            <a:avLst/>
          </a:prstGeom>
        </p:spPr>
        <p:txBody>
          <a:bodyPr wrap="square">
            <a:spAutoFit/>
          </a:bodyPr>
          <a:lstStyle/>
          <a:p>
            <a:r>
              <a:rPr lang="en-IN" sz="2000" b="1" dirty="0">
                <a:solidFill>
                  <a:srgbClr val="FFFF00"/>
                </a:solidFill>
                <a:latin typeface="Bahnschrift" panose="020B0502040204020203" pitchFamily="34" charset="0"/>
              </a:rPr>
              <a:t>Project Team Communication Plan</a:t>
            </a:r>
          </a:p>
          <a:p>
            <a:pPr marL="285750" indent="-285750">
              <a:buFont typeface="Arial" panose="020B0604020202020204" pitchFamily="34" charset="0"/>
              <a:buChar char="•"/>
            </a:pPr>
            <a:r>
              <a:rPr lang="en-US" sz="1600" dirty="0">
                <a:latin typeface="Bahnschrift" panose="020B0502040204020203" pitchFamily="34" charset="0"/>
              </a:rPr>
              <a:t>Establish clear channels for updates like Mails, Teams.</a:t>
            </a:r>
          </a:p>
          <a:p>
            <a:pPr marL="285750" indent="-285750">
              <a:buFont typeface="Arial" panose="020B0604020202020204" pitchFamily="34" charset="0"/>
              <a:buChar char="•"/>
            </a:pPr>
            <a:r>
              <a:rPr lang="en-US" sz="1600" dirty="0">
                <a:latin typeface="Bahnschrift" panose="020B0502040204020203" pitchFamily="34" charset="0"/>
              </a:rPr>
              <a:t>Define response times, meeting cadence, and reporting formats.</a:t>
            </a:r>
          </a:p>
          <a:p>
            <a:pPr marL="285750" indent="-285750">
              <a:buFont typeface="Arial" panose="020B0604020202020204" pitchFamily="34" charset="0"/>
              <a:buChar char="•"/>
            </a:pPr>
            <a:endParaRPr lang="en-US" sz="1600" b="1" dirty="0">
              <a:solidFill>
                <a:srgbClr val="FFFF00"/>
              </a:solidFill>
              <a:latin typeface="Bahnschrift" panose="020B0502040204020203" pitchFamily="34" charset="0"/>
            </a:endParaRPr>
          </a:p>
          <a:p>
            <a:r>
              <a:rPr lang="en-IN" sz="2000" b="1" dirty="0">
                <a:solidFill>
                  <a:srgbClr val="FFFF00"/>
                </a:solidFill>
                <a:latin typeface="Bahnschrift" panose="020B0502040204020203" pitchFamily="34" charset="0"/>
              </a:rPr>
              <a:t>Project Scope</a:t>
            </a:r>
          </a:p>
          <a:p>
            <a:pPr marL="285750" indent="-285750">
              <a:buFont typeface="Arial" panose="020B0604020202020204" pitchFamily="34" charset="0"/>
              <a:buChar char="•"/>
            </a:pPr>
            <a:r>
              <a:rPr lang="en-US" sz="1600" dirty="0">
                <a:latin typeface="Bahnschrift" panose="020B0502040204020203" pitchFamily="34" charset="0"/>
              </a:rPr>
              <a:t>Develop an automated system for event leftover redistribution.</a:t>
            </a:r>
          </a:p>
          <a:p>
            <a:pPr marL="285750" indent="-285750">
              <a:buFont typeface="Arial" panose="020B0604020202020204" pitchFamily="34" charset="0"/>
              <a:buChar char="•"/>
            </a:pPr>
            <a:r>
              <a:rPr lang="en-US" sz="1600" dirty="0">
                <a:latin typeface="Bahnschrift" panose="020B0502040204020203" pitchFamily="34" charset="0"/>
              </a:rPr>
              <a:t>Integrate AI and cloud tools to optimize donation tracking and matching.</a:t>
            </a:r>
            <a:endParaRPr lang="en-IN" sz="1600" dirty="0">
              <a:latin typeface="Bahnschrift" panose="020B0502040204020203" pitchFamily="34" charset="0"/>
            </a:endParaRPr>
          </a:p>
        </p:txBody>
      </p:sp>
    </p:spTree>
    <p:extLst>
      <p:ext uri="{BB962C8B-B14F-4D97-AF65-F5344CB8AC3E}">
        <p14:creationId xmlns:p14="http://schemas.microsoft.com/office/powerpoint/2010/main" val="24753929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7402" y="324629"/>
            <a:ext cx="9404723" cy="678094"/>
          </a:xfrm>
        </p:spPr>
        <p:txBody>
          <a:bodyPr>
            <a:noAutofit/>
          </a:bodyPr>
          <a:lstStyle/>
          <a:p>
            <a:pPr algn="ctr"/>
            <a:r>
              <a:rPr lang="en-IN" sz="3600" b="1" dirty="0">
                <a:solidFill>
                  <a:srgbClr val="FFFF00"/>
                </a:solidFill>
              </a:rPr>
              <a:t>4. Requirements Determination </a:t>
            </a:r>
            <a:br>
              <a:rPr lang="en-IN" sz="3600" dirty="0"/>
            </a:br>
            <a:endParaRPr lang="en-IN" sz="3600" dirty="0"/>
          </a:p>
        </p:txBody>
      </p:sp>
      <p:sp>
        <p:nvSpPr>
          <p:cNvPr id="3" name="Content Placeholder 2"/>
          <p:cNvSpPr>
            <a:spLocks noGrp="1"/>
          </p:cNvSpPr>
          <p:nvPr>
            <p:ph idx="1"/>
          </p:nvPr>
        </p:nvSpPr>
        <p:spPr>
          <a:xfrm>
            <a:off x="178086" y="1002723"/>
            <a:ext cx="11835828" cy="6195317"/>
          </a:xfrm>
        </p:spPr>
        <p:txBody>
          <a:bodyPr>
            <a:normAutofit/>
          </a:bodyPr>
          <a:lstStyle/>
          <a:p>
            <a:pPr marL="0" indent="0">
              <a:buNone/>
            </a:pPr>
            <a:r>
              <a:rPr lang="en-US" sz="2000" b="1" dirty="0">
                <a:solidFill>
                  <a:srgbClr val="FFFF00"/>
                </a:solidFill>
                <a:latin typeface="Bahnschrift" panose="020B0502040204020203" pitchFamily="34" charset="0"/>
              </a:rPr>
              <a:t>Requirements Analysis Techniques: </a:t>
            </a:r>
          </a:p>
          <a:p>
            <a:pPr>
              <a:buFont typeface="Arial" panose="020B0604020202020204" pitchFamily="34" charset="0"/>
              <a:buChar char="•"/>
            </a:pPr>
            <a:r>
              <a:rPr lang="en-US" sz="1800" dirty="0">
                <a:latin typeface="Bahnschrift" panose="020B0502040204020203" pitchFamily="34" charset="0"/>
              </a:rPr>
              <a:t>Conduct interviews with event organizers and charity representatives.</a:t>
            </a:r>
          </a:p>
          <a:p>
            <a:pPr>
              <a:buFont typeface="Arial" panose="020B0604020202020204" pitchFamily="34" charset="0"/>
              <a:buChar char="•"/>
            </a:pPr>
            <a:r>
              <a:rPr lang="en-US" sz="1800" dirty="0">
                <a:latin typeface="Bahnschrift" panose="020B0502040204020203" pitchFamily="34" charset="0"/>
              </a:rPr>
              <a:t>Identify pain points in current surplus coordination methods.</a:t>
            </a:r>
          </a:p>
          <a:p>
            <a:pPr>
              <a:buFont typeface="Arial" panose="020B0604020202020204" pitchFamily="34" charset="0"/>
              <a:buChar char="•"/>
            </a:pPr>
            <a:r>
              <a:rPr lang="en-US" sz="1800" dirty="0">
                <a:latin typeface="Bahnschrift" panose="020B0502040204020203" pitchFamily="34" charset="0"/>
              </a:rPr>
              <a:t>Analyze event workflows, donation patterns, and inventory needs.</a:t>
            </a:r>
          </a:p>
          <a:p>
            <a:pPr>
              <a:buFont typeface="Arial" panose="020B0604020202020204" pitchFamily="34" charset="0"/>
              <a:buChar char="•"/>
            </a:pPr>
            <a:r>
              <a:rPr lang="en-US" sz="1800" dirty="0">
                <a:latin typeface="Bahnschrift" panose="020B0502040204020203" pitchFamily="34" charset="0"/>
              </a:rPr>
              <a:t>Use surveys to gather data on notification preferences and response time.</a:t>
            </a:r>
          </a:p>
          <a:p>
            <a:pPr>
              <a:buFont typeface="Arial" panose="020B0604020202020204" pitchFamily="34" charset="0"/>
              <a:buChar char="•"/>
            </a:pPr>
            <a:endParaRPr lang="en-US" sz="2000" dirty="0">
              <a:latin typeface="Bahnschrift" panose="020B0502040204020203" pitchFamily="34" charset="0"/>
            </a:endParaRPr>
          </a:p>
          <a:p>
            <a:pPr marL="0" indent="0">
              <a:buNone/>
            </a:pPr>
            <a:r>
              <a:rPr lang="en-US" sz="2000" b="1" dirty="0">
                <a:solidFill>
                  <a:srgbClr val="FFFF00"/>
                </a:solidFill>
                <a:latin typeface="Bahnschrift" panose="020B0502040204020203" pitchFamily="34" charset="0"/>
              </a:rPr>
              <a:t>Requirements Gathering Techniques:</a:t>
            </a:r>
          </a:p>
          <a:p>
            <a:pPr>
              <a:buFont typeface="Arial" panose="020B0604020202020204" pitchFamily="34" charset="0"/>
              <a:buChar char="•"/>
            </a:pPr>
            <a:r>
              <a:rPr lang="en-US" sz="1800" dirty="0">
                <a:latin typeface="Bahnschrift" panose="020B0502040204020203" pitchFamily="34" charset="0"/>
              </a:rPr>
              <a:t>Brainstorm features with stakeholders and developers.</a:t>
            </a:r>
          </a:p>
          <a:p>
            <a:pPr>
              <a:buFont typeface="Arial" panose="020B0604020202020204" pitchFamily="34" charset="0"/>
              <a:buChar char="•"/>
            </a:pPr>
            <a:r>
              <a:rPr lang="en-US" sz="1800" dirty="0">
                <a:latin typeface="Bahnschrift" panose="020B0502040204020203" pitchFamily="34" charset="0"/>
              </a:rPr>
              <a:t>Team discussions and scenario modeling.</a:t>
            </a:r>
          </a:p>
          <a:p>
            <a:pPr>
              <a:buFont typeface="Arial" panose="020B0604020202020204" pitchFamily="34" charset="0"/>
              <a:buChar char="•"/>
            </a:pPr>
            <a:r>
              <a:rPr lang="en-US" sz="1800" dirty="0">
                <a:latin typeface="Bahnschrift" panose="020B0502040204020203" pitchFamily="34" charset="0"/>
              </a:rPr>
              <a:t>Developed preliminary wireframes to simulate workflows.</a:t>
            </a:r>
          </a:p>
          <a:p>
            <a:pPr>
              <a:buFont typeface="Arial" panose="020B0604020202020204" pitchFamily="34" charset="0"/>
              <a:buChar char="•"/>
            </a:pPr>
            <a:r>
              <a:rPr lang="en-US" sz="1800" dirty="0">
                <a:latin typeface="Bahnschrift" panose="020B0502040204020203" pitchFamily="34" charset="0"/>
              </a:rPr>
              <a:t>Created use cases for donation posting, matching, and confirmation.</a:t>
            </a:r>
          </a:p>
          <a:p>
            <a:pPr>
              <a:buFont typeface="Arial" panose="020B0604020202020204" pitchFamily="34" charset="0"/>
              <a:buChar char="•"/>
            </a:pPr>
            <a:r>
              <a:rPr lang="en-US" sz="1800" dirty="0">
                <a:latin typeface="Bahnschrift" panose="020B0502040204020203" pitchFamily="34" charset="0"/>
              </a:rPr>
              <a:t>Build use cases to model key interactions.</a:t>
            </a:r>
          </a:p>
          <a:p>
            <a:pPr marL="0" indent="0">
              <a:buNone/>
            </a:pPr>
            <a:endParaRPr lang="en-US" sz="1800" dirty="0">
              <a:solidFill>
                <a:srgbClr val="FFFF00"/>
              </a:solidFill>
              <a:latin typeface="Bahnschrift" panose="020B0502040204020203" pitchFamily="34" charset="0"/>
            </a:endParaRPr>
          </a:p>
        </p:txBody>
      </p:sp>
    </p:spTree>
    <p:extLst>
      <p:ext uri="{BB962C8B-B14F-4D97-AF65-F5344CB8AC3E}">
        <p14:creationId xmlns:p14="http://schemas.microsoft.com/office/powerpoint/2010/main" val="17742540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0127B-0370-650D-A811-D68353359E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165EC2-13E2-5FE3-558F-4AFB90A3E2B0}"/>
              </a:ext>
            </a:extLst>
          </p:cNvPr>
          <p:cNvSpPr>
            <a:spLocks noGrp="1"/>
          </p:cNvSpPr>
          <p:nvPr>
            <p:ph type="title"/>
          </p:nvPr>
        </p:nvSpPr>
        <p:spPr>
          <a:xfrm>
            <a:off x="619985" y="233985"/>
            <a:ext cx="9404723" cy="678094"/>
          </a:xfrm>
        </p:spPr>
        <p:txBody>
          <a:bodyPr>
            <a:normAutofit fontScale="90000"/>
          </a:bodyPr>
          <a:lstStyle/>
          <a:p>
            <a:pPr algn="ctr"/>
            <a:r>
              <a:rPr lang="en-IN" sz="4000" b="1" dirty="0">
                <a:solidFill>
                  <a:srgbClr val="FFFF00"/>
                </a:solidFill>
                <a:latin typeface="Bahnschrift" panose="020B0502040204020203" pitchFamily="34" charset="0"/>
              </a:rPr>
              <a:t>Interface Prototype</a:t>
            </a:r>
            <a:br>
              <a:rPr lang="en-IN" sz="3200" dirty="0"/>
            </a:br>
            <a:endParaRPr lang="en-IN" sz="3200" dirty="0"/>
          </a:p>
        </p:txBody>
      </p:sp>
      <p:sp>
        <p:nvSpPr>
          <p:cNvPr id="3" name="Content Placeholder 2">
            <a:extLst>
              <a:ext uri="{FF2B5EF4-FFF2-40B4-BE49-F238E27FC236}">
                <a16:creationId xmlns:a16="http://schemas.microsoft.com/office/drawing/2014/main" id="{F6CC6596-B88D-1490-7957-EC9BDF4D5AB3}"/>
              </a:ext>
            </a:extLst>
          </p:cNvPr>
          <p:cNvSpPr>
            <a:spLocks noGrp="1"/>
          </p:cNvSpPr>
          <p:nvPr>
            <p:ph idx="1"/>
          </p:nvPr>
        </p:nvSpPr>
        <p:spPr>
          <a:xfrm>
            <a:off x="76200" y="811301"/>
            <a:ext cx="6667130" cy="5560752"/>
          </a:xfrm>
        </p:spPr>
        <p:txBody>
          <a:bodyPr>
            <a:normAutofit/>
          </a:bodyPr>
          <a:lstStyle/>
          <a:p>
            <a:pPr marL="0" indent="0">
              <a:buNone/>
            </a:pPr>
            <a:r>
              <a:rPr lang="en-US" sz="2000" b="1" dirty="0">
                <a:solidFill>
                  <a:srgbClr val="FFFF00"/>
                </a:solidFill>
                <a:latin typeface="Bahnschrift" panose="020B0502040204020203" pitchFamily="34" charset="0"/>
              </a:rPr>
              <a:t>Donation Entry Screen:</a:t>
            </a:r>
          </a:p>
          <a:p>
            <a:pPr marL="0" indent="0">
              <a:buNone/>
            </a:pPr>
            <a:r>
              <a:rPr lang="en-US" sz="2000" b="1" dirty="0">
                <a:solidFill>
                  <a:srgbClr val="FFFF00"/>
                </a:solidFill>
                <a:latin typeface="Bahnschrift" panose="020B0502040204020203" pitchFamily="34" charset="0"/>
              </a:rPr>
              <a:t>Purpose: </a:t>
            </a:r>
          </a:p>
          <a:p>
            <a:r>
              <a:rPr lang="en-US" sz="1800" dirty="0">
                <a:latin typeface="Bahnschrift" panose="020B0502040204020203" pitchFamily="34" charset="0"/>
              </a:rPr>
              <a:t>This screen allows event organizers to quickly log leftover items for donation after an event.</a:t>
            </a:r>
          </a:p>
          <a:p>
            <a:pPr marL="0" indent="0">
              <a:buNone/>
            </a:pPr>
            <a:endParaRPr lang="en-US" sz="1800" dirty="0">
              <a:latin typeface="Bahnschrift" panose="020B0502040204020203" pitchFamily="34" charset="0"/>
            </a:endParaRPr>
          </a:p>
          <a:p>
            <a:pPr marL="0" indent="0">
              <a:buNone/>
            </a:pPr>
            <a:r>
              <a:rPr lang="en-US" sz="2000" b="1" dirty="0">
                <a:solidFill>
                  <a:srgbClr val="FFFF00"/>
                </a:solidFill>
                <a:latin typeface="Bahnschrift" panose="020B0502040204020203" pitchFamily="34" charset="0"/>
              </a:rPr>
              <a:t>Features: </a:t>
            </a:r>
          </a:p>
          <a:p>
            <a:r>
              <a:rPr lang="en-US" sz="1800" dirty="0">
                <a:latin typeface="Bahnschrift" panose="020B0502040204020203" pitchFamily="34" charset="0"/>
              </a:rPr>
              <a:t>Easy-to-fill form for item description, quantity, expiry, and location</a:t>
            </a:r>
          </a:p>
          <a:p>
            <a:r>
              <a:rPr lang="en-US" sz="1800" dirty="0">
                <a:latin typeface="Bahnschrift" panose="020B0502040204020203" pitchFamily="34" charset="0"/>
              </a:rPr>
              <a:t>Streamlined input to reduce time and friction for event staff</a:t>
            </a:r>
          </a:p>
          <a:p>
            <a:r>
              <a:rPr lang="en-US" sz="1800" dirty="0">
                <a:latin typeface="Bahnschrift" panose="020B0502040204020203" pitchFamily="34" charset="0"/>
              </a:rPr>
              <a:t>Simple, clean design to support rapid donations in real time</a:t>
            </a:r>
          </a:p>
          <a:p>
            <a:endParaRPr lang="en-US" sz="2000" dirty="0">
              <a:latin typeface="Bahnschrift" panose="020B0502040204020203" pitchFamily="34" charset="0"/>
            </a:endParaRPr>
          </a:p>
          <a:p>
            <a:pPr marL="0" indent="0">
              <a:buNone/>
            </a:pPr>
            <a:endParaRPr lang="en-US" sz="2000" dirty="0">
              <a:latin typeface="Bahnschrift" panose="020B0502040204020203" pitchFamily="34" charset="0"/>
            </a:endParaRPr>
          </a:p>
          <a:p>
            <a:pPr marL="0" indent="0">
              <a:buNone/>
            </a:pPr>
            <a:endParaRPr lang="en-US" sz="2000" b="1" dirty="0">
              <a:solidFill>
                <a:srgbClr val="FFFF00"/>
              </a:solidFill>
              <a:latin typeface="Bahnschrift" panose="020B0502040204020203" pitchFamily="34" charset="0"/>
            </a:endParaRPr>
          </a:p>
          <a:p>
            <a:pPr marL="0" indent="0">
              <a:buNone/>
            </a:pPr>
            <a:endParaRPr lang="en-US" sz="2000" dirty="0">
              <a:solidFill>
                <a:srgbClr val="FFFF00"/>
              </a:solidFill>
              <a:latin typeface="Bahnschrift" panose="020B0502040204020203" pitchFamily="34" charset="0"/>
            </a:endParaRPr>
          </a:p>
        </p:txBody>
      </p:sp>
      <p:pic>
        <p:nvPicPr>
          <p:cNvPr id="1026" name="Picture 2" descr="Generated image">
            <a:extLst>
              <a:ext uri="{FF2B5EF4-FFF2-40B4-BE49-F238E27FC236}">
                <a16:creationId xmlns:a16="http://schemas.microsoft.com/office/drawing/2014/main" id="{E4FE08CC-1731-1F4F-ABC9-8B56B3D9D8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20379" y="1568774"/>
            <a:ext cx="4469167" cy="40458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1857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0D1EF-927E-631B-0A3A-146022C22C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F77367-EEF4-7A82-7B18-CB231839308B}"/>
              </a:ext>
            </a:extLst>
          </p:cNvPr>
          <p:cNvSpPr>
            <a:spLocks noGrp="1"/>
          </p:cNvSpPr>
          <p:nvPr>
            <p:ph type="title"/>
          </p:nvPr>
        </p:nvSpPr>
        <p:spPr>
          <a:xfrm>
            <a:off x="672236" y="191588"/>
            <a:ext cx="9404723" cy="678094"/>
          </a:xfrm>
        </p:spPr>
        <p:txBody>
          <a:bodyPr>
            <a:normAutofit fontScale="90000"/>
          </a:bodyPr>
          <a:lstStyle/>
          <a:p>
            <a:pPr algn="ctr"/>
            <a:r>
              <a:rPr lang="en-IN" sz="4000" b="1" dirty="0">
                <a:solidFill>
                  <a:srgbClr val="FFFF00"/>
                </a:solidFill>
                <a:latin typeface="Bahnschrift" panose="020B0502040204020203" pitchFamily="34" charset="0"/>
              </a:rPr>
              <a:t>Interface Prototype – Charity View</a:t>
            </a:r>
            <a:br>
              <a:rPr lang="en-IN" sz="3200" dirty="0"/>
            </a:br>
            <a:endParaRPr lang="en-IN" sz="3200" dirty="0"/>
          </a:p>
        </p:txBody>
      </p:sp>
      <p:sp>
        <p:nvSpPr>
          <p:cNvPr id="3" name="Content Placeholder 2">
            <a:extLst>
              <a:ext uri="{FF2B5EF4-FFF2-40B4-BE49-F238E27FC236}">
                <a16:creationId xmlns:a16="http://schemas.microsoft.com/office/drawing/2014/main" id="{52BAA3A5-EE18-A47B-00E2-0B4988C373B9}"/>
              </a:ext>
            </a:extLst>
          </p:cNvPr>
          <p:cNvSpPr>
            <a:spLocks noGrp="1"/>
          </p:cNvSpPr>
          <p:nvPr>
            <p:ph idx="1"/>
          </p:nvPr>
        </p:nvSpPr>
        <p:spPr>
          <a:xfrm>
            <a:off x="76200" y="802592"/>
            <a:ext cx="6667130" cy="5980116"/>
          </a:xfrm>
        </p:spPr>
        <p:txBody>
          <a:bodyPr>
            <a:normAutofit lnSpcReduction="10000"/>
          </a:bodyPr>
          <a:lstStyle/>
          <a:p>
            <a:pPr marL="0" indent="0">
              <a:buNone/>
            </a:pPr>
            <a:r>
              <a:rPr lang="en-US" sz="2000" b="1" dirty="0">
                <a:solidFill>
                  <a:srgbClr val="FFFF00"/>
                </a:solidFill>
                <a:latin typeface="Bahnschrift" panose="020B0502040204020203" pitchFamily="34" charset="0"/>
              </a:rPr>
              <a:t>Donation Visibility:</a:t>
            </a:r>
          </a:p>
          <a:p>
            <a:pPr marL="0" indent="0">
              <a:buNone/>
            </a:pPr>
            <a:r>
              <a:rPr lang="en-US" sz="2000" b="1" dirty="0">
                <a:solidFill>
                  <a:srgbClr val="FFFF00"/>
                </a:solidFill>
                <a:latin typeface="Bahnschrift" panose="020B0502040204020203" pitchFamily="34" charset="0"/>
              </a:rPr>
              <a:t>Purpose: </a:t>
            </a:r>
          </a:p>
          <a:p>
            <a:r>
              <a:rPr lang="en-US" sz="1800" dirty="0">
                <a:latin typeface="Bahnschrift" panose="020B0502040204020203" pitchFamily="34" charset="0"/>
              </a:rPr>
              <a:t>This screen notifies charity representatives in real-time about nearby available donations.</a:t>
            </a:r>
          </a:p>
          <a:p>
            <a:endParaRPr lang="en-US" sz="2000" dirty="0">
              <a:latin typeface="Bahnschrift" panose="020B0502040204020203" pitchFamily="34" charset="0"/>
            </a:endParaRPr>
          </a:p>
          <a:p>
            <a:pPr marL="0" indent="0">
              <a:buNone/>
            </a:pPr>
            <a:r>
              <a:rPr lang="en-US" sz="2000" b="1" dirty="0">
                <a:solidFill>
                  <a:srgbClr val="FFFF00"/>
                </a:solidFill>
                <a:latin typeface="Bahnschrift" panose="020B0502040204020203" pitchFamily="34" charset="0"/>
              </a:rPr>
              <a:t>Features: </a:t>
            </a:r>
          </a:p>
          <a:p>
            <a:r>
              <a:rPr lang="en-US" sz="1800" dirty="0">
                <a:latin typeface="Bahnschrift" panose="020B0502040204020203" pitchFamily="34" charset="0"/>
              </a:rPr>
              <a:t>View donation details like item, quantity, and pickup location.</a:t>
            </a:r>
          </a:p>
          <a:p>
            <a:r>
              <a:rPr lang="en-US" sz="1800" dirty="0">
                <a:latin typeface="Bahnschrift" panose="020B0502040204020203" pitchFamily="34" charset="0"/>
              </a:rPr>
              <a:t>Accept or decline the donation with one click.</a:t>
            </a:r>
          </a:p>
          <a:p>
            <a:r>
              <a:rPr lang="en-US" sz="1800" dirty="0">
                <a:latin typeface="Bahnschrift" panose="020B0502040204020203" pitchFamily="34" charset="0"/>
              </a:rPr>
              <a:t>Optional integration with maps for navigation.</a:t>
            </a:r>
          </a:p>
          <a:p>
            <a:pPr marL="0" indent="0">
              <a:buNone/>
            </a:pPr>
            <a:endParaRPr lang="en-US" sz="2000" dirty="0">
              <a:latin typeface="Bahnschrift" panose="020B0502040204020203" pitchFamily="34" charset="0"/>
            </a:endParaRPr>
          </a:p>
          <a:p>
            <a:pPr marL="0" indent="0">
              <a:buNone/>
            </a:pPr>
            <a:r>
              <a:rPr lang="en-US" sz="2000" b="1" dirty="0">
                <a:solidFill>
                  <a:srgbClr val="FFFF00"/>
                </a:solidFill>
                <a:latin typeface="Bahnschrift" panose="020B0502040204020203" pitchFamily="34" charset="0"/>
              </a:rPr>
              <a:t>Matters:</a:t>
            </a:r>
            <a:endParaRPr lang="en-US" sz="2000" dirty="0">
              <a:latin typeface="Bahnschrift" panose="020B0502040204020203" pitchFamily="34" charset="0"/>
            </a:endParaRPr>
          </a:p>
          <a:p>
            <a:r>
              <a:rPr lang="en-US" sz="1800" dirty="0">
                <a:latin typeface="Bahnschrift" panose="020B0502040204020203" pitchFamily="34" charset="0"/>
              </a:rPr>
              <a:t>Enables fast response and ensures that food gets to those in need quickly.</a:t>
            </a:r>
          </a:p>
          <a:p>
            <a:r>
              <a:rPr lang="en-US" sz="1800" dirty="0">
                <a:latin typeface="Bahnschrift" panose="020B0502040204020203" pitchFamily="34" charset="0"/>
              </a:rPr>
              <a:t>Reducing delays helps maintain item quality and maximizes community impact.</a:t>
            </a:r>
          </a:p>
          <a:p>
            <a:pPr marL="0" indent="0">
              <a:buNone/>
            </a:pPr>
            <a:endParaRPr lang="en-US" sz="1800" dirty="0">
              <a:solidFill>
                <a:srgbClr val="FFFF00"/>
              </a:solidFill>
              <a:latin typeface="Bahnschrift" panose="020B0502040204020203" pitchFamily="34" charset="0"/>
            </a:endParaRPr>
          </a:p>
        </p:txBody>
      </p:sp>
      <p:pic>
        <p:nvPicPr>
          <p:cNvPr id="5" name="Picture 4" descr="A screen shot of a donation&#10;&#10;AI-generated content may be incorrect.">
            <a:extLst>
              <a:ext uri="{FF2B5EF4-FFF2-40B4-BE49-F238E27FC236}">
                <a16:creationId xmlns:a16="http://schemas.microsoft.com/office/drawing/2014/main" id="{063DB0D5-3FEE-F678-1E08-40B8EC8FC5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17041" y="1282823"/>
            <a:ext cx="3815305" cy="5508594"/>
          </a:xfrm>
          <a:prstGeom prst="rect">
            <a:avLst/>
          </a:prstGeom>
        </p:spPr>
      </p:pic>
    </p:spTree>
    <p:extLst>
      <p:ext uri="{BB962C8B-B14F-4D97-AF65-F5344CB8AC3E}">
        <p14:creationId xmlns:p14="http://schemas.microsoft.com/office/powerpoint/2010/main" val="30272887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1FFF3-688D-E1B2-D93B-49F867DC84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5BB60E-DF2D-138D-DBD1-7A9A7A1A5316}"/>
              </a:ext>
            </a:extLst>
          </p:cNvPr>
          <p:cNvSpPr>
            <a:spLocks noGrp="1"/>
          </p:cNvSpPr>
          <p:nvPr>
            <p:ph type="title"/>
          </p:nvPr>
        </p:nvSpPr>
        <p:spPr>
          <a:xfrm>
            <a:off x="646111" y="134983"/>
            <a:ext cx="9404723" cy="678094"/>
          </a:xfrm>
        </p:spPr>
        <p:txBody>
          <a:bodyPr>
            <a:normAutofit fontScale="90000"/>
          </a:bodyPr>
          <a:lstStyle/>
          <a:p>
            <a:pPr algn="ctr"/>
            <a:r>
              <a:rPr lang="en-IN" sz="4000" b="1" dirty="0">
                <a:solidFill>
                  <a:srgbClr val="FFFF00"/>
                </a:solidFill>
              </a:rPr>
              <a:t>Interface Prototype – Admin Dashboard</a:t>
            </a:r>
            <a:br>
              <a:rPr lang="en-IN" sz="3200" dirty="0"/>
            </a:br>
            <a:endParaRPr lang="en-IN" sz="3200" dirty="0"/>
          </a:p>
        </p:txBody>
      </p:sp>
      <p:sp>
        <p:nvSpPr>
          <p:cNvPr id="3" name="Content Placeholder 2">
            <a:extLst>
              <a:ext uri="{FF2B5EF4-FFF2-40B4-BE49-F238E27FC236}">
                <a16:creationId xmlns:a16="http://schemas.microsoft.com/office/drawing/2014/main" id="{1C719AED-A4FB-9267-E95C-89BD9526A3AB}"/>
              </a:ext>
            </a:extLst>
          </p:cNvPr>
          <p:cNvSpPr>
            <a:spLocks noGrp="1"/>
          </p:cNvSpPr>
          <p:nvPr>
            <p:ph idx="1"/>
          </p:nvPr>
        </p:nvSpPr>
        <p:spPr>
          <a:xfrm>
            <a:off x="76200" y="811301"/>
            <a:ext cx="6667130" cy="5980116"/>
          </a:xfrm>
        </p:spPr>
        <p:txBody>
          <a:bodyPr>
            <a:normAutofit/>
          </a:bodyPr>
          <a:lstStyle/>
          <a:p>
            <a:pPr marL="0" indent="0">
              <a:buNone/>
            </a:pPr>
            <a:r>
              <a:rPr lang="en-US" b="1" dirty="0">
                <a:solidFill>
                  <a:srgbClr val="FFFF00"/>
                </a:solidFill>
                <a:latin typeface="Bahnschrift" panose="020B0502040204020203" pitchFamily="34" charset="0"/>
              </a:rPr>
              <a:t>Admin Dashboard:</a:t>
            </a:r>
          </a:p>
          <a:p>
            <a:pPr marL="0" indent="0">
              <a:buNone/>
            </a:pPr>
            <a:r>
              <a:rPr lang="en-US" sz="2200" b="1" dirty="0">
                <a:solidFill>
                  <a:srgbClr val="FFFF00"/>
                </a:solidFill>
                <a:latin typeface="Bahnschrift" panose="020B0502040204020203" pitchFamily="34" charset="0"/>
              </a:rPr>
              <a:t>Purpose: </a:t>
            </a:r>
          </a:p>
          <a:p>
            <a:r>
              <a:rPr lang="en-US" sz="1800" dirty="0">
                <a:latin typeface="Bahnschrift" panose="020B0502040204020203" pitchFamily="34" charset="0"/>
              </a:rPr>
              <a:t>Gives the system admin a centralized view of donation activity and platform performance.</a:t>
            </a:r>
          </a:p>
          <a:p>
            <a:endParaRPr lang="en-US" sz="1800" dirty="0">
              <a:latin typeface="Bahnschrift" panose="020B0502040204020203" pitchFamily="34" charset="0"/>
            </a:endParaRPr>
          </a:p>
          <a:p>
            <a:pPr marL="0" indent="0">
              <a:buNone/>
            </a:pPr>
            <a:r>
              <a:rPr lang="en-US" sz="2200" b="1" dirty="0">
                <a:solidFill>
                  <a:srgbClr val="FFFF00"/>
                </a:solidFill>
                <a:latin typeface="Bahnschrift" panose="020B0502040204020203" pitchFamily="34" charset="0"/>
              </a:rPr>
              <a:t>Features: </a:t>
            </a:r>
          </a:p>
          <a:p>
            <a:r>
              <a:rPr lang="en-US" sz="1800" dirty="0">
                <a:latin typeface="Bahnschrift" panose="020B0502040204020203" pitchFamily="34" charset="0"/>
              </a:rPr>
              <a:t>Real-time data on donations, matches, and pickup status</a:t>
            </a:r>
          </a:p>
          <a:p>
            <a:r>
              <a:rPr lang="en-US" sz="1800" dirty="0">
                <a:latin typeface="Bahnschrift" panose="020B0502040204020203" pitchFamily="34" charset="0"/>
              </a:rPr>
              <a:t>Visual insights through charts and logs</a:t>
            </a:r>
          </a:p>
          <a:p>
            <a:r>
              <a:rPr lang="en-US" sz="1800" dirty="0">
                <a:latin typeface="Bahnschrift" panose="020B0502040204020203" pitchFamily="34" charset="0"/>
              </a:rPr>
              <a:t>Helps ensure operational efficiency and transparency</a:t>
            </a:r>
          </a:p>
          <a:p>
            <a:pPr marL="0" indent="0">
              <a:buNone/>
            </a:pPr>
            <a:endParaRPr lang="en-US" sz="1800" dirty="0">
              <a:latin typeface="Bahnschrift" panose="020B0502040204020203" pitchFamily="34" charset="0"/>
            </a:endParaRPr>
          </a:p>
          <a:p>
            <a:pPr marL="0" indent="0">
              <a:buNone/>
            </a:pPr>
            <a:r>
              <a:rPr lang="en-US" sz="2200" b="1" dirty="0">
                <a:solidFill>
                  <a:srgbClr val="FFFF00"/>
                </a:solidFill>
                <a:latin typeface="Bahnschrift" panose="020B0502040204020203" pitchFamily="34" charset="0"/>
              </a:rPr>
              <a:t>Matters:</a:t>
            </a:r>
            <a:endParaRPr lang="en-US" sz="2200" dirty="0">
              <a:latin typeface="Bahnschrift" panose="020B0502040204020203" pitchFamily="34" charset="0"/>
            </a:endParaRPr>
          </a:p>
          <a:p>
            <a:r>
              <a:rPr lang="en-US" sz="1800" dirty="0">
                <a:latin typeface="Bahnschrift" panose="020B0502040204020203" pitchFamily="34" charset="0"/>
              </a:rPr>
              <a:t>Admins can proactively resolve issues, generate reports, and monitor trends all of which ensure system reliability and community impact.</a:t>
            </a:r>
          </a:p>
          <a:p>
            <a:endParaRPr lang="en-US" sz="1900" dirty="0">
              <a:latin typeface="Bahnschrift" panose="020B0502040204020203" pitchFamily="34" charset="0"/>
            </a:endParaRPr>
          </a:p>
          <a:p>
            <a:pPr marL="0" indent="0">
              <a:buNone/>
            </a:pPr>
            <a:endParaRPr lang="en-US" sz="1800" dirty="0">
              <a:solidFill>
                <a:srgbClr val="FFFF00"/>
              </a:solidFill>
              <a:latin typeface="Bahnschrift" panose="020B0502040204020203" pitchFamily="34" charset="0"/>
            </a:endParaRPr>
          </a:p>
        </p:txBody>
      </p:sp>
      <p:pic>
        <p:nvPicPr>
          <p:cNvPr id="6" name="Picture 5">
            <a:extLst>
              <a:ext uri="{FF2B5EF4-FFF2-40B4-BE49-F238E27FC236}">
                <a16:creationId xmlns:a16="http://schemas.microsoft.com/office/drawing/2014/main" id="{8C30DB8A-F72C-4FD2-06C6-78DF504B20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73487" y="1348654"/>
            <a:ext cx="4362995" cy="5374363"/>
          </a:xfrm>
          <a:prstGeom prst="rect">
            <a:avLst/>
          </a:prstGeom>
        </p:spPr>
      </p:pic>
    </p:spTree>
    <p:extLst>
      <p:ext uri="{BB962C8B-B14F-4D97-AF65-F5344CB8AC3E}">
        <p14:creationId xmlns:p14="http://schemas.microsoft.com/office/powerpoint/2010/main" val="5575724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0"/>
            <a:ext cx="9404723" cy="770562"/>
          </a:xfrm>
        </p:spPr>
        <p:txBody>
          <a:bodyPr/>
          <a:lstStyle/>
          <a:p>
            <a:pPr algn="ctr"/>
            <a:r>
              <a:rPr lang="en-IN" sz="3200" b="1" dirty="0">
                <a:solidFill>
                  <a:srgbClr val="FFFF00"/>
                </a:solidFill>
              </a:rPr>
              <a:t>Data Storage Design</a:t>
            </a:r>
            <a:endParaRPr lang="en-IN" sz="3200" dirty="0">
              <a:solidFill>
                <a:srgbClr val="FFFF00"/>
              </a:solidFill>
            </a:endParaRPr>
          </a:p>
        </p:txBody>
      </p:sp>
      <p:sp>
        <p:nvSpPr>
          <p:cNvPr id="3" name="Content Placeholder 2"/>
          <p:cNvSpPr>
            <a:spLocks noGrp="1"/>
          </p:cNvSpPr>
          <p:nvPr>
            <p:ph idx="1"/>
          </p:nvPr>
        </p:nvSpPr>
        <p:spPr>
          <a:xfrm>
            <a:off x="174661" y="584231"/>
            <a:ext cx="11733087" cy="6092575"/>
          </a:xfrm>
        </p:spPr>
        <p:txBody>
          <a:bodyPr>
            <a:normAutofit lnSpcReduction="10000"/>
          </a:bodyPr>
          <a:lstStyle/>
          <a:p>
            <a:pPr marL="0" indent="0">
              <a:buNone/>
            </a:pPr>
            <a:r>
              <a:rPr lang="en-US" b="1" dirty="0">
                <a:solidFill>
                  <a:srgbClr val="FFFF00"/>
                </a:solidFill>
                <a:latin typeface="Bahnschrift" panose="020B0502040204020203" pitchFamily="34" charset="0"/>
              </a:rPr>
              <a:t>Entities and Attributes:</a:t>
            </a:r>
          </a:p>
          <a:p>
            <a:pPr marL="0" indent="0">
              <a:buNone/>
            </a:pPr>
            <a:r>
              <a:rPr lang="en-US" sz="1800" dirty="0">
                <a:latin typeface="Bahnschrift" panose="020B0502040204020203" pitchFamily="34" charset="0"/>
              </a:rPr>
              <a:t>Event Organizer Entity</a:t>
            </a:r>
          </a:p>
          <a:p>
            <a:pPr marL="0" indent="0">
              <a:buNone/>
            </a:pPr>
            <a:r>
              <a:rPr lang="en-US" sz="1800" dirty="0">
                <a:latin typeface="Bahnschrift" panose="020B0502040204020203" pitchFamily="34" charset="0"/>
              </a:rPr>
              <a:t>Charity Representative Entity</a:t>
            </a:r>
          </a:p>
          <a:p>
            <a:pPr marL="0" indent="0">
              <a:buNone/>
            </a:pPr>
            <a:r>
              <a:rPr lang="en-US" sz="1800" dirty="0">
                <a:latin typeface="Bahnschrift" panose="020B0502040204020203" pitchFamily="34" charset="0"/>
              </a:rPr>
              <a:t>Item Entity</a:t>
            </a:r>
          </a:p>
          <a:p>
            <a:pPr marL="0" indent="0">
              <a:buNone/>
            </a:pPr>
            <a:r>
              <a:rPr lang="en-US" sz="1800" dirty="0">
                <a:latin typeface="Bahnschrift" panose="020B0502040204020203" pitchFamily="34" charset="0"/>
              </a:rPr>
              <a:t>Donation Match Entity</a:t>
            </a:r>
          </a:p>
          <a:p>
            <a:pPr marL="0" indent="0">
              <a:buNone/>
            </a:pPr>
            <a:r>
              <a:rPr lang="en-US" sz="1800" dirty="0">
                <a:latin typeface="Bahnschrift" panose="020B0502040204020203" pitchFamily="34" charset="0"/>
              </a:rPr>
              <a:t>Notification Entity</a:t>
            </a:r>
          </a:p>
          <a:p>
            <a:pPr marL="0" indent="0">
              <a:buNone/>
            </a:pPr>
            <a:r>
              <a:rPr lang="en-US" b="1" dirty="0">
                <a:solidFill>
                  <a:srgbClr val="FFFF00"/>
                </a:solidFill>
                <a:latin typeface="Bahnschrift" panose="020B0502040204020203" pitchFamily="34" charset="0"/>
              </a:rPr>
              <a:t>Entity Descriptions:</a:t>
            </a:r>
          </a:p>
          <a:p>
            <a:r>
              <a:rPr lang="en-US" sz="1800" dirty="0">
                <a:latin typeface="Bahnschrift" panose="020B0502040204020203" pitchFamily="34" charset="0"/>
              </a:rPr>
              <a:t>Event Organizer Entity: Stores organizer name, contact info, and affiliated organization details. Creates donation posts and system notifications.</a:t>
            </a:r>
          </a:p>
          <a:p>
            <a:r>
              <a:rPr lang="en-US" sz="1800" dirty="0">
                <a:latin typeface="Bahnschrift" panose="020B0502040204020203" pitchFamily="34" charset="0"/>
              </a:rPr>
              <a:t>Charity Representative Entity: Holds information on NGO contacts who receive donation matches. Receives notifications and confirms donation pickup.</a:t>
            </a:r>
          </a:p>
          <a:p>
            <a:r>
              <a:rPr lang="en-US" sz="1800" dirty="0">
                <a:latin typeface="Bahnschrift" panose="020B0502040204020203" pitchFamily="34" charset="0"/>
              </a:rPr>
              <a:t>Item Entity: Represents individual surplus items including description, quantity, expiry date, and surplus date. Matched in donation processes.</a:t>
            </a:r>
          </a:p>
          <a:p>
            <a:r>
              <a:rPr lang="en-US" sz="1800" dirty="0">
                <a:latin typeface="Bahnschrift" panose="020B0502040204020203" pitchFamily="34" charset="0"/>
              </a:rPr>
              <a:t>Donation Match Entity: Tracks the matching of items to specific charity representatives with match date and status. Created by system when item and charity are matched.</a:t>
            </a:r>
          </a:p>
          <a:p>
            <a:r>
              <a:rPr lang="en-US" sz="1800" dirty="0">
                <a:latin typeface="Bahnschrift" panose="020B0502040204020203" pitchFamily="34" charset="0"/>
              </a:rPr>
              <a:t>Notification Entity: Captures alerts sent to recipients with message content, date, and type. Sent by system and received by representatives.</a:t>
            </a:r>
          </a:p>
        </p:txBody>
      </p:sp>
    </p:spTree>
    <p:extLst>
      <p:ext uri="{BB962C8B-B14F-4D97-AF65-F5344CB8AC3E}">
        <p14:creationId xmlns:p14="http://schemas.microsoft.com/office/powerpoint/2010/main" val="30735306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4661" y="271213"/>
            <a:ext cx="12017339" cy="4154984"/>
          </a:xfrm>
          <a:prstGeom prst="rect">
            <a:avLst/>
          </a:prstGeom>
        </p:spPr>
        <p:txBody>
          <a:bodyPr wrap="square">
            <a:spAutoFit/>
          </a:bodyPr>
          <a:lstStyle/>
          <a:p>
            <a:pPr algn="ctr"/>
            <a:r>
              <a:rPr lang="en-IN" sz="2800" b="1" dirty="0">
                <a:solidFill>
                  <a:srgbClr val="FFFF00"/>
                </a:solidFill>
                <a:latin typeface="Bahnschrift" panose="020B0502040204020203" pitchFamily="34" charset="0"/>
              </a:rPr>
              <a:t>ERD Support:</a:t>
            </a:r>
          </a:p>
          <a:p>
            <a:pPr algn="ctr"/>
            <a:endParaRPr lang="en-IN" sz="2800" b="1" dirty="0">
              <a:solidFill>
                <a:srgbClr val="FFFF00"/>
              </a:solidFill>
              <a:latin typeface="Bahnschrift" panose="020B0502040204020203" pitchFamily="34" charset="0"/>
            </a:endParaRPr>
          </a:p>
          <a:p>
            <a:pPr algn="ctr"/>
            <a:endParaRPr lang="en-IN" sz="2800" b="1" dirty="0">
              <a:solidFill>
                <a:srgbClr val="FFFF00"/>
              </a:solidFill>
              <a:latin typeface="Bahnschrift" panose="020B0502040204020203" pitchFamily="34" charset="0"/>
            </a:endParaRPr>
          </a:p>
          <a:p>
            <a:r>
              <a:rPr lang="en-IN" b="1" dirty="0">
                <a:solidFill>
                  <a:srgbClr val="FFFF00"/>
                </a:solidFill>
                <a:latin typeface="Bahnschrift" panose="020B0502040204020203" pitchFamily="34" charset="0"/>
              </a:rPr>
              <a:t>Relationships: </a:t>
            </a:r>
            <a:r>
              <a:rPr lang="en-US" dirty="0">
                <a:latin typeface="Bahnschrift" panose="020B0502040204020203" pitchFamily="34" charset="0"/>
              </a:rPr>
              <a:t>Essential for linking organizers, items, matches, and recipients. This enables real-time tracking of surplus and efficient routing of donations.</a:t>
            </a:r>
          </a:p>
          <a:p>
            <a:endParaRPr lang="en-US" b="1" dirty="0">
              <a:solidFill>
                <a:srgbClr val="FFFF00"/>
              </a:solidFill>
              <a:latin typeface="Bahnschrift" panose="020B0502040204020203" pitchFamily="34" charset="0"/>
            </a:endParaRPr>
          </a:p>
          <a:p>
            <a:r>
              <a:rPr lang="en-IN" b="1" dirty="0">
                <a:solidFill>
                  <a:srgbClr val="FFFF00"/>
                </a:solidFill>
                <a:latin typeface="Bahnschrift" panose="020B0502040204020203" pitchFamily="34" charset="0"/>
              </a:rPr>
              <a:t>Foreign Keys: </a:t>
            </a:r>
            <a:r>
              <a:rPr lang="en-US" dirty="0">
                <a:latin typeface="Bahnschrift" panose="020B0502040204020203" pitchFamily="34" charset="0"/>
              </a:rPr>
              <a:t>Used to maintain data integrity across entities. ItemID links to Donation Match. RepresentativeID links to both Notification and Donation Match.</a:t>
            </a:r>
          </a:p>
          <a:p>
            <a:endParaRPr lang="en-IN" dirty="0">
              <a:latin typeface="Bahnschrift" panose="020B0502040204020203" pitchFamily="34" charset="0"/>
            </a:endParaRPr>
          </a:p>
          <a:p>
            <a:r>
              <a:rPr lang="en-IN" b="1" dirty="0">
                <a:solidFill>
                  <a:srgbClr val="FFFF00"/>
                </a:solidFill>
                <a:latin typeface="Bahnschrift" panose="020B0502040204020203" pitchFamily="34" charset="0"/>
              </a:rPr>
              <a:t>Attributes: </a:t>
            </a:r>
            <a:r>
              <a:rPr lang="en-US" dirty="0">
                <a:latin typeface="Bahnschrift" panose="020B0502040204020203" pitchFamily="34" charset="0"/>
              </a:rPr>
              <a:t>Each attribute is carefully selected to ensure accurate tracking and reporting of donation activity.</a:t>
            </a:r>
          </a:p>
          <a:p>
            <a:endParaRPr lang="en-IN" dirty="0">
              <a:latin typeface="Bahnschrift" panose="020B0502040204020203" pitchFamily="34" charset="0"/>
            </a:endParaRPr>
          </a:p>
          <a:p>
            <a:r>
              <a:rPr lang="en-IN" b="1" dirty="0">
                <a:solidFill>
                  <a:srgbClr val="FFFF00"/>
                </a:solidFill>
                <a:latin typeface="Bahnschrift" panose="020B0502040204020203" pitchFamily="34" charset="0"/>
              </a:rPr>
              <a:t>Normalization: </a:t>
            </a:r>
            <a:r>
              <a:rPr lang="en-US" dirty="0">
                <a:latin typeface="Bahnschrift" panose="020B0502040204020203" pitchFamily="34" charset="0"/>
              </a:rPr>
              <a:t>All entities are normalized (at least up to 3NF) to Avoid redundancy, Improve query performance, Ensure clarity in entity roles.</a:t>
            </a:r>
            <a:endParaRPr lang="en-IN" dirty="0">
              <a:latin typeface="Bahnschrift" panose="020B0502040204020203" pitchFamily="34" charset="0"/>
            </a:endParaRPr>
          </a:p>
        </p:txBody>
      </p:sp>
    </p:spTree>
    <p:extLst>
      <p:ext uri="{BB962C8B-B14F-4D97-AF65-F5344CB8AC3E}">
        <p14:creationId xmlns:p14="http://schemas.microsoft.com/office/powerpoint/2010/main" val="27505859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855" y="0"/>
            <a:ext cx="9404723" cy="698641"/>
          </a:xfrm>
        </p:spPr>
        <p:txBody>
          <a:bodyPr>
            <a:normAutofit fontScale="90000"/>
          </a:bodyPr>
          <a:lstStyle/>
          <a:p>
            <a:pPr algn="ctr"/>
            <a:r>
              <a:rPr lang="en-IN" sz="2800" b="1" dirty="0">
                <a:solidFill>
                  <a:srgbClr val="FFFF00"/>
                </a:solidFill>
                <a:latin typeface="Bahnschrift" panose="020B0502040204020203" pitchFamily="34" charset="0"/>
              </a:rPr>
              <a:t>                 Implementation Plan</a:t>
            </a:r>
            <a:br>
              <a:rPr lang="en-IN" sz="2800" b="1" dirty="0">
                <a:solidFill>
                  <a:srgbClr val="FFFF00"/>
                </a:solidFill>
                <a:latin typeface="Bahnschrift" panose="020B0502040204020203" pitchFamily="34" charset="0"/>
              </a:rPr>
            </a:br>
            <a:r>
              <a:rPr lang="en-IN" sz="2800" b="1" dirty="0">
                <a:solidFill>
                  <a:srgbClr val="FFFF00"/>
                </a:solidFill>
                <a:latin typeface="Bahnschrift" panose="020B0502040204020203" pitchFamily="34" charset="0"/>
              </a:rPr>
              <a:t> </a:t>
            </a:r>
            <a:endParaRPr lang="en-IN" sz="2800" dirty="0">
              <a:solidFill>
                <a:srgbClr val="FFFF00"/>
              </a:solidFill>
              <a:latin typeface="Bahnschrift" panose="020B0502040204020203" pitchFamily="34" charset="0"/>
            </a:endParaRPr>
          </a:p>
        </p:txBody>
      </p:sp>
      <p:sp>
        <p:nvSpPr>
          <p:cNvPr id="3" name="Content Placeholder 2"/>
          <p:cNvSpPr>
            <a:spLocks noGrp="1"/>
          </p:cNvSpPr>
          <p:nvPr>
            <p:ph idx="1"/>
          </p:nvPr>
        </p:nvSpPr>
        <p:spPr>
          <a:xfrm>
            <a:off x="111855" y="698642"/>
            <a:ext cx="5425915" cy="6159358"/>
          </a:xfrm>
        </p:spPr>
        <p:txBody>
          <a:bodyPr>
            <a:normAutofit lnSpcReduction="10000"/>
          </a:bodyPr>
          <a:lstStyle/>
          <a:p>
            <a:pPr marL="0" indent="0">
              <a:buNone/>
            </a:pPr>
            <a:r>
              <a:rPr lang="en-US" sz="2400" b="1" dirty="0">
                <a:solidFill>
                  <a:srgbClr val="FFFF00"/>
                </a:solidFill>
                <a:latin typeface="Bahnschrift" panose="020B0502040204020203" pitchFamily="34" charset="0"/>
              </a:rPr>
              <a:t>Implementation Plan:</a:t>
            </a:r>
          </a:p>
          <a:p>
            <a:pPr>
              <a:buFont typeface="Arial" panose="020B0604020202020204" pitchFamily="34" charset="0"/>
              <a:buChar char="•"/>
            </a:pPr>
            <a:r>
              <a:rPr lang="en-US" sz="1600" dirty="0">
                <a:latin typeface="Bahnschrift" panose="020B0502040204020203" pitchFamily="34" charset="0"/>
              </a:rPr>
              <a:t>Build the system based on finalized prototype.</a:t>
            </a:r>
          </a:p>
          <a:p>
            <a:pPr>
              <a:buFont typeface="Arial" panose="020B0604020202020204" pitchFamily="34" charset="0"/>
              <a:buChar char="•"/>
            </a:pPr>
            <a:r>
              <a:rPr lang="en-US" sz="1600" dirty="0">
                <a:latin typeface="Bahnschrift" panose="020B0502040204020203" pitchFamily="34" charset="0"/>
              </a:rPr>
              <a:t>Integrate web and mobile platforms for organizers and recipients.</a:t>
            </a:r>
          </a:p>
          <a:p>
            <a:pPr>
              <a:buFont typeface="Arial" panose="020B0604020202020204" pitchFamily="34" charset="0"/>
              <a:buChar char="•"/>
            </a:pPr>
            <a:r>
              <a:rPr lang="en-US" sz="1600" dirty="0">
                <a:latin typeface="Bahnschrift" panose="020B0502040204020203" pitchFamily="34" charset="0"/>
              </a:rPr>
              <a:t>Ensure deployment environment is cloud-hosted.</a:t>
            </a:r>
          </a:p>
          <a:p>
            <a:pPr marL="0" indent="0">
              <a:buNone/>
            </a:pPr>
            <a:r>
              <a:rPr lang="en-US" sz="2100" b="1" dirty="0">
                <a:solidFill>
                  <a:srgbClr val="FFFF00"/>
                </a:solidFill>
                <a:latin typeface="Bahnschrift" panose="020B0502040204020203" pitchFamily="34" charset="0"/>
              </a:rPr>
              <a:t>Data Integration:</a:t>
            </a:r>
          </a:p>
          <a:p>
            <a:pPr>
              <a:buFont typeface="Arial" panose="020B0604020202020204" pitchFamily="34" charset="0"/>
              <a:buChar char="•"/>
            </a:pPr>
            <a:r>
              <a:rPr lang="en-US" sz="1600" dirty="0">
                <a:latin typeface="Bahnschrift" panose="020B0502040204020203" pitchFamily="34" charset="0"/>
              </a:rPr>
              <a:t>Link real-time item entries with inventory and notification modules.</a:t>
            </a:r>
          </a:p>
          <a:p>
            <a:pPr>
              <a:buFont typeface="Arial" panose="020B0604020202020204" pitchFamily="34" charset="0"/>
              <a:buChar char="•"/>
            </a:pPr>
            <a:r>
              <a:rPr lang="en-US" sz="1600" dirty="0">
                <a:latin typeface="Bahnschrift" panose="020B0502040204020203" pitchFamily="34" charset="0"/>
              </a:rPr>
              <a:t>Secure APIs for sending alerts and syncing charity responses.</a:t>
            </a:r>
          </a:p>
          <a:p>
            <a:pPr marL="0" indent="0">
              <a:buNone/>
            </a:pPr>
            <a:r>
              <a:rPr lang="en-US" b="1" dirty="0">
                <a:solidFill>
                  <a:srgbClr val="FFFF00"/>
                </a:solidFill>
                <a:latin typeface="Bahnschrift" panose="020B0502040204020203" pitchFamily="34" charset="0"/>
              </a:rPr>
              <a:t>System Logic:</a:t>
            </a:r>
            <a:endParaRPr lang="en-US" dirty="0">
              <a:solidFill>
                <a:srgbClr val="FFFF00"/>
              </a:solidFill>
              <a:latin typeface="Bahnschrift" panose="020B0502040204020203" pitchFamily="34" charset="0"/>
            </a:endParaRPr>
          </a:p>
          <a:p>
            <a:pPr>
              <a:buFont typeface="Arial" panose="020B0604020202020204" pitchFamily="34" charset="0"/>
              <a:buChar char="•"/>
            </a:pPr>
            <a:r>
              <a:rPr lang="en-US" sz="1600" dirty="0">
                <a:latin typeface="Bahnschrift" panose="020B0502040204020203" pitchFamily="34" charset="0"/>
              </a:rPr>
              <a:t>Use basic AI logic to match donations based on location, type, and urgency.</a:t>
            </a:r>
          </a:p>
          <a:p>
            <a:pPr>
              <a:buFont typeface="Arial" panose="020B0604020202020204" pitchFamily="34" charset="0"/>
              <a:buChar char="•"/>
            </a:pPr>
            <a:r>
              <a:rPr lang="en-US" sz="1600" dirty="0">
                <a:latin typeface="Bahnschrift" panose="020B0502040204020203" pitchFamily="34" charset="0"/>
              </a:rPr>
              <a:t>Improve logic over time based on feedback and analytics.</a:t>
            </a:r>
          </a:p>
          <a:p>
            <a:pPr marL="0" indent="0">
              <a:buNone/>
            </a:pPr>
            <a:r>
              <a:rPr lang="en-US" sz="1800" b="1" dirty="0">
                <a:solidFill>
                  <a:srgbClr val="FFFF00"/>
                </a:solidFill>
                <a:latin typeface="Bahnschrift" panose="020B0502040204020203" pitchFamily="34" charset="0"/>
              </a:rPr>
              <a:t>User Interface Refinement:</a:t>
            </a:r>
          </a:p>
          <a:p>
            <a:pPr>
              <a:buFont typeface="Arial" panose="020B0604020202020204" pitchFamily="34" charset="0"/>
              <a:buChar char="•"/>
            </a:pPr>
            <a:r>
              <a:rPr lang="en-US" sz="1600" dirty="0">
                <a:latin typeface="Bahnschrift" panose="020B0502040204020203" pitchFamily="34" charset="0"/>
              </a:rPr>
              <a:t>Conduct internal usability testing with mock users.</a:t>
            </a:r>
          </a:p>
          <a:p>
            <a:pPr>
              <a:buFont typeface="Arial" panose="020B0604020202020204" pitchFamily="34" charset="0"/>
              <a:buChar char="•"/>
            </a:pPr>
            <a:r>
              <a:rPr lang="en-US" sz="1600" dirty="0">
                <a:latin typeface="Bahnschrift" panose="020B0502040204020203" pitchFamily="34" charset="0"/>
              </a:rPr>
              <a:t>Make UI simple for fast item reporting and quick approval.</a:t>
            </a:r>
          </a:p>
          <a:p>
            <a:pPr marL="0" indent="0">
              <a:buNone/>
            </a:pPr>
            <a:endParaRPr lang="en-US" sz="1600" dirty="0">
              <a:latin typeface="Bahnschrift" panose="020B0502040204020203" pitchFamily="34" charset="0"/>
            </a:endParaRPr>
          </a:p>
          <a:p>
            <a:pPr marL="0" indent="0">
              <a:buNone/>
            </a:pPr>
            <a:endParaRPr lang="en-US" sz="1800" dirty="0">
              <a:latin typeface="Bahnschrift" panose="020B0502040204020203" pitchFamily="34" charset="0"/>
            </a:endParaRPr>
          </a:p>
          <a:p>
            <a:pPr marL="0" indent="0">
              <a:buNone/>
            </a:pPr>
            <a:endParaRPr lang="en-US" sz="1800" b="1" dirty="0">
              <a:latin typeface="Bahnschrift" panose="020B0502040204020203" pitchFamily="34" charset="0"/>
            </a:endParaRPr>
          </a:p>
        </p:txBody>
      </p:sp>
      <p:sp>
        <p:nvSpPr>
          <p:cNvPr id="6" name="Rectangle 5"/>
          <p:cNvSpPr/>
          <p:nvPr/>
        </p:nvSpPr>
        <p:spPr>
          <a:xfrm>
            <a:off x="5646128" y="1679087"/>
            <a:ext cx="6164493" cy="2000548"/>
          </a:xfrm>
          <a:prstGeom prst="rect">
            <a:avLst/>
          </a:prstGeom>
        </p:spPr>
        <p:txBody>
          <a:bodyPr wrap="square">
            <a:spAutoFit/>
          </a:bodyPr>
          <a:lstStyle/>
          <a:p>
            <a:pPr marL="0" indent="0">
              <a:buNone/>
            </a:pPr>
            <a:r>
              <a:rPr lang="en-US" sz="1800" b="1" dirty="0">
                <a:solidFill>
                  <a:srgbClr val="FFFF00"/>
                </a:solidFill>
                <a:latin typeface="Bahnschrift" panose="020B0502040204020203" pitchFamily="34" charset="0"/>
              </a:rPr>
              <a:t>Testing and Quality Assurance:</a:t>
            </a:r>
            <a:endParaRPr lang="en-US" sz="1800" dirty="0">
              <a:solidFill>
                <a:srgbClr val="FFFF00"/>
              </a:solidFill>
              <a:latin typeface="Bahnschrift" panose="020B0502040204020203" pitchFamily="34" charset="0"/>
            </a:endParaRPr>
          </a:p>
          <a:p>
            <a:pPr>
              <a:buFont typeface="Arial" panose="020B0604020202020204" pitchFamily="34" charset="0"/>
              <a:buChar char="•"/>
            </a:pPr>
            <a:r>
              <a:rPr lang="en-US" sz="1400" dirty="0">
                <a:latin typeface="Bahnschrift" panose="020B0502040204020203" pitchFamily="34" charset="0"/>
              </a:rPr>
              <a:t>Perform unit tests, integration tests, and simulated workflows</a:t>
            </a:r>
          </a:p>
          <a:p>
            <a:pPr>
              <a:buFont typeface="Arial" panose="020B0604020202020204" pitchFamily="34" charset="0"/>
              <a:buChar char="•"/>
            </a:pPr>
            <a:r>
              <a:rPr lang="en-US" sz="1400" dirty="0">
                <a:latin typeface="Bahnschrift" panose="020B0502040204020203" pitchFamily="34" charset="0"/>
              </a:rPr>
              <a:t>Ensure system handles edge cases like expired items, duplicate alerts.</a:t>
            </a:r>
          </a:p>
          <a:p>
            <a:endParaRPr lang="en-IN" b="1" dirty="0">
              <a:solidFill>
                <a:srgbClr val="FFFF00"/>
              </a:solidFill>
              <a:latin typeface="Bahnschrift" panose="020B0502040204020203" pitchFamily="34" charset="0"/>
            </a:endParaRPr>
          </a:p>
          <a:p>
            <a:r>
              <a:rPr lang="en-IN" b="1" dirty="0">
                <a:solidFill>
                  <a:srgbClr val="FFFF00"/>
                </a:solidFill>
                <a:latin typeface="Bahnschrift" panose="020B0502040204020203" pitchFamily="34" charset="0"/>
              </a:rPr>
              <a:t>Communication Strategy:</a:t>
            </a:r>
          </a:p>
          <a:p>
            <a:pPr marL="285750" indent="-285750">
              <a:buFont typeface="Arial" panose="020B0604020202020204" pitchFamily="34" charset="0"/>
              <a:buChar char="•"/>
            </a:pPr>
            <a:r>
              <a:rPr lang="en-US" sz="1400" dirty="0">
                <a:latin typeface="Bahnschrift" panose="020B0502040204020203" pitchFamily="34" charset="0"/>
              </a:rPr>
              <a:t>Setup in-app alerts + optional email/SMS.</a:t>
            </a:r>
          </a:p>
          <a:p>
            <a:pPr marL="285750" indent="-285750">
              <a:buFont typeface="Arial" panose="020B0604020202020204" pitchFamily="34" charset="0"/>
              <a:buChar char="•"/>
            </a:pPr>
            <a:r>
              <a:rPr lang="en-US" sz="1400" dirty="0">
                <a:latin typeface="Bahnschrift" panose="020B0502040204020203" pitchFamily="34" charset="0"/>
              </a:rPr>
              <a:t>Create FAQ and contact support module for common issues.</a:t>
            </a:r>
          </a:p>
          <a:p>
            <a:pPr marL="285750" indent="-285750">
              <a:buFont typeface="Arial" panose="020B0604020202020204" pitchFamily="34" charset="0"/>
              <a:buChar char="•"/>
            </a:pPr>
            <a:endParaRPr lang="en-US" sz="1400" dirty="0">
              <a:latin typeface="Bahnschrift" panose="020B0502040204020203" pitchFamily="34" charset="0"/>
            </a:endParaRPr>
          </a:p>
        </p:txBody>
      </p:sp>
      <p:sp>
        <p:nvSpPr>
          <p:cNvPr id="7" name="Rectangle 6"/>
          <p:cNvSpPr/>
          <p:nvPr/>
        </p:nvSpPr>
        <p:spPr>
          <a:xfrm>
            <a:off x="5646128" y="4038081"/>
            <a:ext cx="6318608" cy="800219"/>
          </a:xfrm>
          <a:prstGeom prst="rect">
            <a:avLst/>
          </a:prstGeom>
        </p:spPr>
        <p:txBody>
          <a:bodyPr wrap="square">
            <a:spAutoFit/>
          </a:bodyPr>
          <a:lstStyle/>
          <a:p>
            <a:r>
              <a:rPr lang="en-IN" b="1" dirty="0">
                <a:solidFill>
                  <a:srgbClr val="FFFF00"/>
                </a:solidFill>
                <a:latin typeface="Bahnschrift" panose="020B0502040204020203" pitchFamily="34" charset="0"/>
              </a:rPr>
              <a:t>Monitoring:</a:t>
            </a:r>
          </a:p>
          <a:p>
            <a:pPr marL="285750" indent="-285750">
              <a:buFont typeface="Arial" panose="020B0604020202020204" pitchFamily="34" charset="0"/>
              <a:buChar char="•"/>
            </a:pPr>
            <a:r>
              <a:rPr lang="en-US" sz="1400" dirty="0">
                <a:latin typeface="Bahnschrift" panose="020B0502040204020203" pitchFamily="34" charset="0"/>
              </a:rPr>
              <a:t>Track key metrics like donation time, match success rate.</a:t>
            </a:r>
          </a:p>
          <a:p>
            <a:pPr marL="285750" indent="-285750">
              <a:buFont typeface="Arial" panose="020B0604020202020204" pitchFamily="34" charset="0"/>
              <a:buChar char="•"/>
            </a:pPr>
            <a:r>
              <a:rPr lang="en-US" sz="1400" dirty="0">
                <a:latin typeface="Bahnschrift" panose="020B0502040204020203" pitchFamily="34" charset="0"/>
              </a:rPr>
              <a:t>Gather user feedback post-launch to refine future versions</a:t>
            </a:r>
            <a:endParaRPr lang="en-IN" sz="1400" dirty="0">
              <a:latin typeface="Bahnschrift" panose="020B0502040204020203" pitchFamily="34" charset="0"/>
            </a:endParaRPr>
          </a:p>
        </p:txBody>
      </p:sp>
      <p:sp>
        <p:nvSpPr>
          <p:cNvPr id="8" name="Rectangle 7"/>
          <p:cNvSpPr/>
          <p:nvPr/>
        </p:nvSpPr>
        <p:spPr>
          <a:xfrm>
            <a:off x="5646128" y="5452011"/>
            <a:ext cx="6318609" cy="830997"/>
          </a:xfrm>
          <a:prstGeom prst="rect">
            <a:avLst/>
          </a:prstGeom>
        </p:spPr>
        <p:txBody>
          <a:bodyPr wrap="square">
            <a:spAutoFit/>
          </a:bodyPr>
          <a:lstStyle/>
          <a:p>
            <a:r>
              <a:rPr lang="en-IN" sz="1600" b="1" dirty="0">
                <a:solidFill>
                  <a:srgbClr val="FFFF00"/>
                </a:solidFill>
                <a:latin typeface="Bahnschrift" panose="020B0502040204020203" pitchFamily="34" charset="0"/>
              </a:rPr>
              <a:t>Rollout:</a:t>
            </a:r>
          </a:p>
          <a:p>
            <a:pPr marL="285750" indent="-285750">
              <a:buFont typeface="Arial" panose="020B0604020202020204" pitchFamily="34" charset="0"/>
              <a:buChar char="•"/>
            </a:pPr>
            <a:r>
              <a:rPr lang="en-US" sz="1600" dirty="0">
                <a:latin typeface="Bahnschrift" panose="020B0502040204020203" pitchFamily="34" charset="0"/>
              </a:rPr>
              <a:t>Pilot launch in select local events.</a:t>
            </a:r>
          </a:p>
          <a:p>
            <a:pPr marL="285750" indent="-285750">
              <a:buFont typeface="Arial" panose="020B0604020202020204" pitchFamily="34" charset="0"/>
              <a:buChar char="•"/>
            </a:pPr>
            <a:r>
              <a:rPr lang="en-US" sz="1600" dirty="0">
                <a:latin typeface="Bahnschrift" panose="020B0502040204020203" pitchFamily="34" charset="0"/>
              </a:rPr>
              <a:t>Monitor, fix bugs, and gradually expand coverage.</a:t>
            </a:r>
            <a:endParaRPr lang="en-IN" sz="1600" dirty="0">
              <a:latin typeface="Bahnschrift" panose="020B0502040204020203" pitchFamily="34" charset="0"/>
            </a:endParaRPr>
          </a:p>
        </p:txBody>
      </p:sp>
    </p:spTree>
    <p:extLst>
      <p:ext uri="{BB962C8B-B14F-4D97-AF65-F5344CB8AC3E}">
        <p14:creationId xmlns:p14="http://schemas.microsoft.com/office/powerpoint/2010/main" val="13686029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3499" y="72574"/>
            <a:ext cx="10357512" cy="862374"/>
          </a:xfrm>
        </p:spPr>
        <p:txBody>
          <a:bodyPr/>
          <a:lstStyle/>
          <a:p>
            <a:r>
              <a:rPr lang="en-US" sz="2400" b="1" dirty="0">
                <a:solidFill>
                  <a:srgbClr val="FFFF00"/>
                </a:solidFill>
                <a:latin typeface="Bahnschrift" panose="020B0502040204020203" pitchFamily="34" charset="0"/>
              </a:rPr>
              <a:t>Maintenance:</a:t>
            </a:r>
            <a:endParaRPr lang="en-IN" sz="2400" dirty="0">
              <a:solidFill>
                <a:srgbClr val="FFFF00"/>
              </a:solidFill>
              <a:latin typeface="Bahnschrift" panose="020B0502040204020203" pitchFamily="34" charset="0"/>
            </a:endParaRPr>
          </a:p>
        </p:txBody>
      </p:sp>
      <p:sp>
        <p:nvSpPr>
          <p:cNvPr id="3" name="Content Placeholder 2"/>
          <p:cNvSpPr>
            <a:spLocks noGrp="1"/>
          </p:cNvSpPr>
          <p:nvPr>
            <p:ph idx="1"/>
          </p:nvPr>
        </p:nvSpPr>
        <p:spPr>
          <a:xfrm>
            <a:off x="173499" y="1006867"/>
            <a:ext cx="11826717" cy="5681609"/>
          </a:xfrm>
        </p:spPr>
        <p:txBody>
          <a:bodyPr>
            <a:normAutofit/>
          </a:bodyPr>
          <a:lstStyle/>
          <a:p>
            <a:pPr marL="0" indent="0">
              <a:buNone/>
            </a:pPr>
            <a:r>
              <a:rPr lang="en-US" b="1" dirty="0">
                <a:solidFill>
                  <a:srgbClr val="FFFF00"/>
                </a:solidFill>
                <a:latin typeface="Bahnschrift" panose="020B0502040204020203" pitchFamily="34" charset="0"/>
              </a:rPr>
              <a:t>Maintenance Schedule:</a:t>
            </a:r>
          </a:p>
          <a:p>
            <a:pPr>
              <a:buFont typeface="Arial" panose="020B0604020202020204" pitchFamily="34" charset="0"/>
              <a:buChar char="•"/>
            </a:pPr>
            <a:r>
              <a:rPr lang="en-US" sz="1600" dirty="0">
                <a:latin typeface="Bahnschrift" panose="020B0502040204020203" pitchFamily="34" charset="0"/>
              </a:rPr>
              <a:t>Regularly apply bug fixes and software updates.</a:t>
            </a:r>
          </a:p>
          <a:p>
            <a:pPr>
              <a:buFont typeface="Arial" panose="020B0604020202020204" pitchFamily="34" charset="0"/>
              <a:buChar char="•"/>
            </a:pPr>
            <a:r>
              <a:rPr lang="en-US" sz="1600" dirty="0">
                <a:latin typeface="Bahnschrift" panose="020B0502040204020203" pitchFamily="34" charset="0"/>
              </a:rPr>
              <a:t>Monitor system performance and gather user feedback for ongoing improvement.</a:t>
            </a:r>
            <a:endParaRPr lang="en-US" b="1" dirty="0">
              <a:solidFill>
                <a:srgbClr val="FFFF00"/>
              </a:solidFill>
              <a:latin typeface="Bahnschrift" panose="020B0502040204020203" pitchFamily="34" charset="0"/>
            </a:endParaRPr>
          </a:p>
          <a:p>
            <a:pPr marL="0" indent="0">
              <a:buNone/>
            </a:pPr>
            <a:r>
              <a:rPr lang="en-US" b="1" dirty="0">
                <a:solidFill>
                  <a:srgbClr val="FFFF00"/>
                </a:solidFill>
                <a:latin typeface="Bahnschrift" panose="020B0502040204020203" pitchFamily="34" charset="0"/>
              </a:rPr>
              <a:t>Flexibility:</a:t>
            </a:r>
            <a:endParaRPr lang="en-US" dirty="0">
              <a:latin typeface="Bahnschrift" panose="020B0502040204020203" pitchFamily="34" charset="0"/>
            </a:endParaRPr>
          </a:p>
          <a:p>
            <a:pPr>
              <a:buFont typeface="Arial" panose="020B0604020202020204" pitchFamily="34" charset="0"/>
              <a:buChar char="•"/>
            </a:pPr>
            <a:r>
              <a:rPr lang="en-US" sz="1600" dirty="0">
                <a:latin typeface="Bahnschrift" panose="020B0502040204020203" pitchFamily="34" charset="0"/>
              </a:rPr>
              <a:t>Ensure scalability to support growing numbers of events and charities.</a:t>
            </a:r>
          </a:p>
          <a:p>
            <a:pPr>
              <a:buFont typeface="Arial" panose="020B0604020202020204" pitchFamily="34" charset="0"/>
              <a:buChar char="•"/>
            </a:pPr>
            <a:r>
              <a:rPr lang="en-US" sz="1600" dirty="0">
                <a:latin typeface="Bahnschrift" panose="020B0502040204020203" pitchFamily="34" charset="0"/>
              </a:rPr>
              <a:t>Reassess system architecture periodically to adapt to new requirements.</a:t>
            </a:r>
          </a:p>
          <a:p>
            <a:pPr marL="0" indent="0">
              <a:buNone/>
            </a:pPr>
            <a:endParaRPr lang="en-US" b="1" dirty="0">
              <a:solidFill>
                <a:srgbClr val="FFFF00"/>
              </a:solidFill>
              <a:latin typeface="Bahnschrift" panose="020B0502040204020203" pitchFamily="34" charset="0"/>
            </a:endParaRPr>
          </a:p>
          <a:p>
            <a:pPr marL="0" indent="0">
              <a:buNone/>
            </a:pPr>
            <a:r>
              <a:rPr lang="en-US" b="1" dirty="0">
                <a:solidFill>
                  <a:srgbClr val="FFFF00"/>
                </a:solidFill>
                <a:latin typeface="Bahnschrift" panose="020B0502040204020203" pitchFamily="34" charset="0"/>
              </a:rPr>
              <a:t>Future Issues/Problems:</a:t>
            </a:r>
          </a:p>
          <a:p>
            <a:pPr>
              <a:buFont typeface="Arial" panose="020B0604020202020204" pitchFamily="34" charset="0"/>
              <a:buChar char="•"/>
            </a:pPr>
            <a:r>
              <a:rPr lang="en-US" sz="1600" dirty="0">
                <a:latin typeface="Bahnschrift" panose="020B0502040204020203" pitchFamily="34" charset="0"/>
              </a:rPr>
              <a:t>Ensuring secure data handling and privacy compliance.</a:t>
            </a:r>
          </a:p>
          <a:p>
            <a:pPr>
              <a:buFont typeface="Arial" panose="020B0604020202020204" pitchFamily="34" charset="0"/>
              <a:buChar char="•"/>
            </a:pPr>
            <a:r>
              <a:rPr lang="en-US" sz="1600" dirty="0">
                <a:latin typeface="Bahnschrift" panose="020B0502040204020203" pitchFamily="34" charset="0"/>
              </a:rPr>
              <a:t>Managing regulatory changes for food safety or nonprofit reporting.</a:t>
            </a:r>
          </a:p>
          <a:p>
            <a:pPr>
              <a:buFont typeface="Arial" panose="020B0604020202020204" pitchFamily="34" charset="0"/>
              <a:buChar char="•"/>
            </a:pPr>
            <a:r>
              <a:rPr lang="en-US" sz="1600" dirty="0">
                <a:latin typeface="Bahnschrift" panose="020B0502040204020203" pitchFamily="34" charset="0"/>
              </a:rPr>
              <a:t>Handling integration with new organizations or platforms.</a:t>
            </a:r>
          </a:p>
          <a:p>
            <a:pPr>
              <a:buFont typeface="Arial" panose="020B0604020202020204" pitchFamily="34" charset="0"/>
              <a:buChar char="•"/>
            </a:pPr>
            <a:r>
              <a:rPr lang="en-US" sz="1600" dirty="0">
                <a:latin typeface="Bahnschrift" panose="020B0502040204020203" pitchFamily="34" charset="0"/>
              </a:rPr>
              <a:t>Adapting to feedback on usability and system behavior.</a:t>
            </a:r>
          </a:p>
          <a:p>
            <a:pPr marL="0" indent="0">
              <a:buNone/>
            </a:pPr>
            <a:endParaRPr lang="en-US" sz="1600" dirty="0">
              <a:latin typeface="Bahnschrift" panose="020B0502040204020203" pitchFamily="34" charset="0"/>
            </a:endParaRPr>
          </a:p>
          <a:p>
            <a:pPr marL="0" indent="0">
              <a:buNone/>
            </a:pPr>
            <a:endParaRPr lang="en-US" sz="1600" dirty="0">
              <a:latin typeface="Bahnschrift" panose="020B0502040204020203" pitchFamily="34" charset="0"/>
            </a:endParaRPr>
          </a:p>
          <a:p>
            <a:pPr marL="0" indent="0">
              <a:buNone/>
            </a:pPr>
            <a:endParaRPr lang="en-US" sz="1600" dirty="0">
              <a:latin typeface="Bahnschrift" panose="020B0502040204020203" pitchFamily="34" charset="0"/>
            </a:endParaRPr>
          </a:p>
          <a:p>
            <a:pPr marL="0" indent="0">
              <a:buNone/>
            </a:pPr>
            <a:endParaRPr lang="en-US" sz="1600" dirty="0">
              <a:latin typeface="Bahnschrift" panose="020B0502040204020203" pitchFamily="34" charset="0"/>
            </a:endParaRPr>
          </a:p>
          <a:p>
            <a:pPr marL="0" indent="0">
              <a:buNone/>
            </a:pPr>
            <a:endParaRPr lang="en-IN" sz="1600" dirty="0">
              <a:latin typeface="Bahnschrift" panose="020B0502040204020203" pitchFamily="34" charset="0"/>
            </a:endParaRPr>
          </a:p>
        </p:txBody>
      </p:sp>
    </p:spTree>
    <p:extLst>
      <p:ext uri="{BB962C8B-B14F-4D97-AF65-F5344CB8AC3E}">
        <p14:creationId xmlns:p14="http://schemas.microsoft.com/office/powerpoint/2010/main" val="372817853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60</TotalTime>
  <Words>3938</Words>
  <Application>Microsoft Office PowerPoint</Application>
  <PresentationFormat>Widescreen</PresentationFormat>
  <Paragraphs>355</Paragraphs>
  <Slides>20</Slides>
  <Notes>20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Aptos</vt:lpstr>
      <vt:lpstr>Arial</vt:lpstr>
      <vt:lpstr>Bahnschrift</vt:lpstr>
      <vt:lpstr>Century Gothic</vt:lpstr>
      <vt:lpstr>Söhne</vt:lpstr>
      <vt:lpstr>Wingdings 3</vt:lpstr>
      <vt:lpstr>Ion</vt:lpstr>
      <vt:lpstr>EVENT LEFTOVER REDISTRIBUTION SYSTEM</vt:lpstr>
      <vt:lpstr>1. Industry Background: Social Services</vt:lpstr>
      <vt:lpstr>Organization Background: Local Food Redistribution Initiative </vt:lpstr>
      <vt:lpstr>PowerPoint Presentation</vt:lpstr>
      <vt:lpstr>2. Planning Phase</vt:lpstr>
      <vt:lpstr>Current Problems</vt:lpstr>
      <vt:lpstr>Add Values</vt:lpstr>
      <vt:lpstr>Goals </vt:lpstr>
      <vt:lpstr>Three Alternatives for New System:</vt:lpstr>
      <vt:lpstr>Feasibility Study:</vt:lpstr>
      <vt:lpstr>3. Project Selection and Management  </vt:lpstr>
      <vt:lpstr>PowerPoint Presentation</vt:lpstr>
      <vt:lpstr>4. Requirements Determination  </vt:lpstr>
      <vt:lpstr>Interface Prototype </vt:lpstr>
      <vt:lpstr>Interface Prototype – Charity View </vt:lpstr>
      <vt:lpstr>Interface Prototype – Admin Dashboard </vt:lpstr>
      <vt:lpstr>Data Storage Design</vt:lpstr>
      <vt:lpstr>PowerPoint Presentation</vt:lpstr>
      <vt:lpstr>                 Implementation Plan  </vt:lpstr>
      <vt:lpstr>Maintenance: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Pradeep Ponnam (pponnam)</dc:creator>
  <cp:lastModifiedBy>Pradeep Ponnam (pponnam)</cp:lastModifiedBy>
  <cp:revision>3</cp:revision>
  <dcterms:created xsi:type="dcterms:W3CDTF">2025-04-21T01:59:55Z</dcterms:created>
  <dcterms:modified xsi:type="dcterms:W3CDTF">2025-04-21T03:01:37Z</dcterms:modified>
</cp:coreProperties>
</file>